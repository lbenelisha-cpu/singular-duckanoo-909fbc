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charts/chart10.xml" ContentType="application/vnd.openxmlformats-officedocument.drawingml.chart+xml"/>
  <Default Extension="jpeg" ContentType="image/jpeg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999" r:id="rIdQ3Sep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1119" r:id="rId5S19"/>
    <p:sldId id="1120" r:id="rId5S20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Q3Sep" Type="http://schemas.openxmlformats.org/officeDocument/2006/relationships/slide" Target="slides/slide18.xml"/><Relationship Id="rId5S19" Type="http://schemas.openxmlformats.org/officeDocument/2006/relationships/slide" Target="slides/slide19.xml"/><Relationship Id="rId5S20" Type="http://schemas.openxmlformats.org/officeDocument/2006/relationships/slide" Target="slides/slide20.xml"/></Relationships>
</file>

<file path=ppt/charts/_rels/chart1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1.xlsx"/></ns0:Relationships>
</file>

<file path=ppt/charts/_rels/chart2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2.xlsx"/></ns0:Relationships>
</file>

<file path=ppt/charts/_rels/chart3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3.xlsx"/></ns0:Relationships>
</file>

<file path=ppt/charts/_rels/chart4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4.xlsx"/></ns0:Relationships>
</file>

<file path=ppt/charts/_rels/chart5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5.xlsx"/></ns0:Relationships>
</file>

<file path=ppt/charts/_rels/chart6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6.xlsx"/></ns0:Relationships>
</file>

<file path=ppt/charts/_rels/chart7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7.xlsx"/></ns0:Relationships>
</file>

<file path=ppt/charts/_rels/chart8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8.xlsx"/></ns0:Relationships>
</file>

<file path=ppt/charts/_rels/chart9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9.xlsx"/></ns0:Relationships>
</file>

<file path=ppt/charts/_rels/chart10.xml.rels><?xml version='1.0' encoding='UTF-8'?>
<ns0:Relationships xmlns:ns0="http://schemas.openxmlformats.org/package/2006/relationships"><ns0:Relationship Id="rIdData" Type="http://schemas.openxmlformats.org/officeDocument/2006/relationships/package" Target="../embeddings/q3-chart10.xlsx"/></ns0: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אריזה בפועל (ליטר)</c:v>
                </c:pt>
              </c:strCache>
            </c:strRef>
          </c:tx>
          <c:spPr>
            <a:solidFill>
              <a:srgbClr val="35B6FF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12.7</c:v>
                </c:pt>
                <c:pt idx="1">
                  <c:v>13.7</c:v>
                </c:pt>
                <c:pt idx="2">
                  <c:v>14.7</c:v>
                </c:pt>
                <c:pt idx="3">
                  <c:v>15.7</c:v>
                </c:pt>
                <c:pt idx="4">
                  <c:v>16.7</c:v>
                </c:pt>
                <c:pt idx="5">
                  <c:v>19.7</c:v>
                </c:pt>
                <c:pt idx="6">
                  <c:v>20.7</c:v>
                </c:pt>
                <c:pt idx="7">
                  <c:v>21.7</c:v>
                </c:pt>
                <c:pt idx="8">
                  <c:v>22.7</c:v>
                </c:pt>
                <c:pt idx="9">
                  <c:v>23.7</c:v>
                </c:pt>
                <c:pt idx="10">
                  <c:v>26.7</c:v>
                </c:pt>
                <c:pt idx="11">
                  <c:v>27.7</c:v>
                </c:pt>
                <c:pt idx="12">
                  <c:v>28.7</c:v>
                </c:pt>
                <c:pt idx="13">
                  <c:v>29.7</c:v>
                </c:pt>
                <c:pt idx="14">
                  <c:v>30.7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38720</c:v>
                </c:pt>
                <c:pt idx="1">
                  <c:v>40800</c:v>
                </c:pt>
                <c:pt idx="2">
                  <c:v>51000</c:v>
                </c:pt>
                <c:pt idx="3">
                  <c:v>53400</c:v>
                </c:pt>
                <c:pt idx="4">
                  <c:v>57000</c:v>
                </c:pt>
                <c:pt idx="5">
                  <c:v>32000</c:v>
                </c:pt>
                <c:pt idx="6">
                  <c:v>34200</c:v>
                </c:pt>
                <c:pt idx="7">
                  <c:v>75000</c:v>
                </c:pt>
                <c:pt idx="8">
                  <c:v>78600</c:v>
                </c:pt>
                <c:pt idx="9">
                  <c:v>83800</c:v>
                </c:pt>
                <c:pt idx="10">
                  <c:v>38376</c:v>
                </c:pt>
                <c:pt idx="11">
                  <c:v>51000</c:v>
                </c:pt>
                <c:pt idx="12">
                  <c:v>50376</c:v>
                </c:pt>
                <c:pt idx="13">
                  <c:v>36504</c:v>
                </c:pt>
                <c:pt idx="14">
                  <c:v>18336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07-414B-A883-79E31D6D5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  <c:ser>
          <c:idx val="1"/>
          <c:order val="1"/>
          <c:tx>
            <c:strRef>
              <c:f>Sheet1!$D$1</c:f>
              <c:strCache>
                <c:ptCount val="1"/>
                <c:pt idx="0">
                  <c:v>יעד יומי נגזר מהתכנון</c:v>
                </c:pt>
              </c:strCache>
            </c:strRef>
          </c:tx>
          <c:spPr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Sheet1!$C$2:$C$16</c:f>
              <c:strCache>
                <c:ptCount val="15"/>
                <c:pt idx="0">
                  <c:v>12.7</c:v>
                </c:pt>
                <c:pt idx="1">
                  <c:v>13.7</c:v>
                </c:pt>
                <c:pt idx="2">
                  <c:v>14.7</c:v>
                </c:pt>
                <c:pt idx="3">
                  <c:v>15.7</c:v>
                </c:pt>
                <c:pt idx="4">
                  <c:v>16.7</c:v>
                </c:pt>
                <c:pt idx="5">
                  <c:v>19.7</c:v>
                </c:pt>
                <c:pt idx="6">
                  <c:v>20.7</c:v>
                </c:pt>
                <c:pt idx="7">
                  <c:v>21.7</c:v>
                </c:pt>
                <c:pt idx="8">
                  <c:v>22.7</c:v>
                </c:pt>
                <c:pt idx="9">
                  <c:v>23.7</c:v>
                </c:pt>
                <c:pt idx="10">
                  <c:v>26.7</c:v>
                </c:pt>
                <c:pt idx="11">
                  <c:v>27.7</c:v>
                </c:pt>
                <c:pt idx="12">
                  <c:v>28.7</c:v>
                </c:pt>
                <c:pt idx="13">
                  <c:v>29.7</c:v>
                </c:pt>
                <c:pt idx="14">
                  <c:v>30.7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67466.66666666667</c:v>
                </c:pt>
                <c:pt idx="1">
                  <c:v>67466.66666666667</c:v>
                </c:pt>
                <c:pt idx="2">
                  <c:v>67466.66666666667</c:v>
                </c:pt>
                <c:pt idx="3">
                  <c:v>67466.66666666667</c:v>
                </c:pt>
                <c:pt idx="4">
                  <c:v>67466.66666666667</c:v>
                </c:pt>
                <c:pt idx="5">
                  <c:v>67466.66666666667</c:v>
                </c:pt>
                <c:pt idx="6">
                  <c:v>67466.66666666667</c:v>
                </c:pt>
                <c:pt idx="7">
                  <c:v>67466.66666666667</c:v>
                </c:pt>
                <c:pt idx="8">
                  <c:v>67466.66666666667</c:v>
                </c:pt>
                <c:pt idx="9">
                  <c:v>67466.66666666667</c:v>
                </c:pt>
                <c:pt idx="10">
                  <c:v>67466.66666666667</c:v>
                </c:pt>
                <c:pt idx="11">
                  <c:v>67466.66666666667</c:v>
                </c:pt>
                <c:pt idx="12">
                  <c:v>67466.66666666667</c:v>
                </c:pt>
                <c:pt idx="13">
                  <c:v>67466.66666666667</c:v>
                </c:pt>
                <c:pt idx="14">
                  <c:v>67466.66666666667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07-414B-A883-79E31D6D5170}"/>
            </c:ext>
          </c:extLst>
        </c:ser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אריזה בפועל (ליטר)</c:v>
                </c:pt>
              </c:strCache>
            </c:strRef>
          </c:tx>
          <c:spPr>
            <a:solidFill>
              <a:srgbClr val="35B6FF"/>
            </a:solidFill>
            <a:effectLst/>
          </c:spPr>
          <c:invertIfNegative val="0"/>
          <c:cat>
            <c:strRef>
              <c:f>Sheet1!$A$2:$A$28</c:f>
              <c:strCache>
                <c:ptCount val="27"/>
                <c:pt idx="0">
                  <c:v>2.8</c:v>
                </c:pt>
                <c:pt idx="1">
                  <c:v>3.8</c:v>
                </c:pt>
                <c:pt idx="2">
                  <c:v>4.8</c:v>
                </c:pt>
                <c:pt idx="3">
                  <c:v>5.8</c:v>
                </c:pt>
                <c:pt idx="4">
                  <c:v>6.8</c:v>
                </c:pt>
                <c:pt idx="5">
                  <c:v>9.8</c:v>
                </c:pt>
                <c:pt idx="6">
                  <c:v>10.8</c:v>
                </c:pt>
                <c:pt idx="7">
                  <c:v>11.8</c:v>
                </c:pt>
                <c:pt idx="8">
                  <c:v>12.8</c:v>
                </c:pt>
                <c:pt idx="9">
                  <c:v>13.8</c:v>
                </c:pt>
                <c:pt idx="10">
                  <c:v>14.8</c:v>
                </c:pt>
                <c:pt idx="11">
                  <c:v>15.8</c:v>
                </c:pt>
                <c:pt idx="12">
                  <c:v>16.8</c:v>
                </c:pt>
                <c:pt idx="13">
                  <c:v>17.8</c:v>
                </c:pt>
                <c:pt idx="14">
                  <c:v>18.8</c:v>
                </c:pt>
                <c:pt idx="15">
                  <c:v>19.8</c:v>
                </c:pt>
                <c:pt idx="16">
                  <c:v>20.8</c:v>
                </c:pt>
                <c:pt idx="17">
                  <c:v>21.8</c:v>
                </c:pt>
                <c:pt idx="18">
                  <c:v>23.8</c:v>
                </c:pt>
                <c:pt idx="19">
                  <c:v>24.8</c:v>
                </c:pt>
                <c:pt idx="20">
                  <c:v>25.8</c:v>
                </c:pt>
                <c:pt idx="21">
                  <c:v>26.8</c:v>
                </c:pt>
                <c:pt idx="22">
                  <c:v>27.8</c:v>
                </c:pt>
                <c:pt idx="23">
                  <c:v>28.8</c:v>
                </c:pt>
                <c:pt idx="24">
                  <c:v>29.8</c:v>
                </c:pt>
                <c:pt idx="25">
                  <c:v>30.8</c:v>
                </c:pt>
                <c:pt idx="26">
                  <c:v>31.8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38280</c:v>
                </c:pt>
                <c:pt idx="1">
                  <c:v>37056</c:v>
                </c:pt>
                <c:pt idx="2">
                  <c:v>58800</c:v>
                </c:pt>
                <c:pt idx="3">
                  <c:v>53400</c:v>
                </c:pt>
                <c:pt idx="4">
                  <c:v>55800</c:v>
                </c:pt>
                <c:pt idx="5">
                  <c:v>45000</c:v>
                </c:pt>
                <c:pt idx="6">
                  <c:v>60600</c:v>
                </c:pt>
                <c:pt idx="7">
                  <c:v>49800</c:v>
                </c:pt>
                <c:pt idx="8">
                  <c:v>53352</c:v>
                </c:pt>
                <c:pt idx="9">
                  <c:v>32904</c:v>
                </c:pt>
                <c:pt idx="10">
                  <c:v>12000</c:v>
                </c:pt>
                <c:pt idx="11">
                  <c:v>32000</c:v>
                </c:pt>
                <c:pt idx="12">
                  <c:v>47304</c:v>
                </c:pt>
                <c:pt idx="13">
                  <c:v>40656</c:v>
                </c:pt>
                <c:pt idx="14">
                  <c:v>58000</c:v>
                </c:pt>
                <c:pt idx="15">
                  <c:v>26632</c:v>
                </c:pt>
                <c:pt idx="16">
                  <c:v>53400</c:v>
                </c:pt>
                <c:pt idx="17">
                  <c:v>19680</c:v>
                </c:pt>
                <c:pt idx="18">
                  <c:v>46800</c:v>
                </c:pt>
                <c:pt idx="19">
                  <c:v>33460</c:v>
                </c:pt>
                <c:pt idx="20">
                  <c:v>31104</c:v>
                </c:pt>
                <c:pt idx="21">
                  <c:v>49152</c:v>
                </c:pt>
                <c:pt idx="22">
                  <c:v>59976</c:v>
                </c:pt>
                <c:pt idx="23">
                  <c:v>21600</c:v>
                </c:pt>
                <c:pt idx="24">
                  <c:v>35400</c:v>
                </c:pt>
                <c:pt idx="25">
                  <c:v>53376</c:v>
                </c:pt>
                <c:pt idx="26">
                  <c:v>48552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EA-4F66-9FA8-66C241946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  <c:ser>
          <c:idx val="1"/>
          <c:order val="1"/>
          <c:tx>
            <c:strRef>
              <c:f>Sheet1!$D$1</c:f>
              <c:strCache>
                <c:ptCount val="1"/>
                <c:pt idx="0">
                  <c:v>יעד יומי נגזר מהתכנון</c:v>
                </c:pt>
              </c:strCache>
            </c:strRef>
          </c:tx>
          <c:spPr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Sheet1!$C$2:$C$28</c:f>
              <c:strCache>
                <c:ptCount val="27"/>
                <c:pt idx="0">
                  <c:v>2.8</c:v>
                </c:pt>
                <c:pt idx="1">
                  <c:v>3.8</c:v>
                </c:pt>
                <c:pt idx="2">
                  <c:v>4.8</c:v>
                </c:pt>
                <c:pt idx="3">
                  <c:v>5.8</c:v>
                </c:pt>
                <c:pt idx="4">
                  <c:v>6.8</c:v>
                </c:pt>
                <c:pt idx="5">
                  <c:v>9.8</c:v>
                </c:pt>
                <c:pt idx="6">
                  <c:v>10.8</c:v>
                </c:pt>
                <c:pt idx="7">
                  <c:v>11.8</c:v>
                </c:pt>
                <c:pt idx="8">
                  <c:v>12.8</c:v>
                </c:pt>
                <c:pt idx="9">
                  <c:v>13.8</c:v>
                </c:pt>
                <c:pt idx="10">
                  <c:v>14.8</c:v>
                </c:pt>
                <c:pt idx="11">
                  <c:v>15.8</c:v>
                </c:pt>
                <c:pt idx="12">
                  <c:v>16.8</c:v>
                </c:pt>
                <c:pt idx="13">
                  <c:v>17.8</c:v>
                </c:pt>
                <c:pt idx="14">
                  <c:v>18.8</c:v>
                </c:pt>
                <c:pt idx="15">
                  <c:v>19.8</c:v>
                </c:pt>
                <c:pt idx="16">
                  <c:v>20.8</c:v>
                </c:pt>
                <c:pt idx="17">
                  <c:v>21.8</c:v>
                </c:pt>
                <c:pt idx="18">
                  <c:v>23.8</c:v>
                </c:pt>
                <c:pt idx="19">
                  <c:v>24.8</c:v>
                </c:pt>
                <c:pt idx="20">
                  <c:v>25.8</c:v>
                </c:pt>
                <c:pt idx="21">
                  <c:v>26.8</c:v>
                </c:pt>
                <c:pt idx="22">
                  <c:v>27.8</c:v>
                </c:pt>
                <c:pt idx="23">
                  <c:v>28.8</c:v>
                </c:pt>
                <c:pt idx="24">
                  <c:v>29.8</c:v>
                </c:pt>
                <c:pt idx="25">
                  <c:v>30.8</c:v>
                </c:pt>
                <c:pt idx="26">
                  <c:v>31.8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23037.03703703704</c:v>
                </c:pt>
                <c:pt idx="1">
                  <c:v>23037.03703703704</c:v>
                </c:pt>
                <c:pt idx="2">
                  <c:v>23037.03703703704</c:v>
                </c:pt>
                <c:pt idx="3">
                  <c:v>23037.03703703704</c:v>
                </c:pt>
                <c:pt idx="4">
                  <c:v>23037.03703703704</c:v>
                </c:pt>
                <c:pt idx="5">
                  <c:v>23037.03703703704</c:v>
                </c:pt>
                <c:pt idx="6">
                  <c:v>23037.03703703704</c:v>
                </c:pt>
                <c:pt idx="7">
                  <c:v>23037.03703703704</c:v>
                </c:pt>
                <c:pt idx="8">
                  <c:v>23037.03703703704</c:v>
                </c:pt>
                <c:pt idx="9">
                  <c:v>23037.03703703704</c:v>
                </c:pt>
                <c:pt idx="10">
                  <c:v>23037.03703703704</c:v>
                </c:pt>
                <c:pt idx="11">
                  <c:v>23037.03703703704</c:v>
                </c:pt>
                <c:pt idx="12">
                  <c:v>23037.03703703704</c:v>
                </c:pt>
                <c:pt idx="13">
                  <c:v>23037.03703703704</c:v>
                </c:pt>
                <c:pt idx="14">
                  <c:v>23037.03703703704</c:v>
                </c:pt>
                <c:pt idx="15">
                  <c:v>23037.03703703704</c:v>
                </c:pt>
                <c:pt idx="16">
                  <c:v>23037.03703703704</c:v>
                </c:pt>
                <c:pt idx="17">
                  <c:v>23037.03703703704</c:v>
                </c:pt>
                <c:pt idx="18">
                  <c:v>23037.03703703704</c:v>
                </c:pt>
                <c:pt idx="19">
                  <c:v>23037.03703703704</c:v>
                </c:pt>
                <c:pt idx="20">
                  <c:v>23037.03703703704</c:v>
                </c:pt>
                <c:pt idx="21">
                  <c:v>23037.03703703704</c:v>
                </c:pt>
                <c:pt idx="22">
                  <c:v>23037.03703703704</c:v>
                </c:pt>
                <c:pt idx="23">
                  <c:v>23037.03703703704</c:v>
                </c:pt>
                <c:pt idx="24">
                  <c:v>23037.03703703704</c:v>
                </c:pt>
                <c:pt idx="25">
                  <c:v>23037.03703703704</c:v>
                </c:pt>
                <c:pt idx="26">
                  <c:v>23037.03703703704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07-414B-A883-79E31D6D5170}"/>
            </c:ext>
          </c:extLst>
        </c:ser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ממוצע ליטרים ליום</c:v>
                </c:pt>
              </c:strCache>
            </c:strRef>
          </c:tx>
          <c:spPr>
            <a:solidFill>
              <a:srgbClr val="2EE6C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59393.41935483871</c:v>
                </c:pt>
                <c:pt idx="1">
                  <c:v>49331.28571428572</c:v>
                </c:pt>
                <c:pt idx="2">
                  <c:v>60294.87096774193</c:v>
                </c:pt>
                <c:pt idx="3">
                  <c:v>67330.22222222222</c:v>
                </c:pt>
                <c:pt idx="4">
                  <c:v>64169.24137931035</c:v>
                </c:pt>
                <c:pt idx="5">
                  <c:v>64399.47826086957</c:v>
                </c:pt>
                <c:pt idx="6">
                  <c:v>49274.13333333333</c:v>
                </c:pt>
                <c:pt idx="7">
                  <c:v>42743.85185185185</c:v>
                </c:pt>
                <c:pt idx="8">
                  <c:v>43534.8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2-4413-868F-24CA4C1B8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יעד יומי נגזר מהתכנון</c:v>
                </c:pt>
              </c:strCache>
            </c:strRef>
          </c:tx>
          <c:spPr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Sheet1!$C$2:$C$10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75516.12903225806</c:v>
                </c:pt>
                <c:pt idx="1">
                  <c:v>68571.42857142857</c:v>
                </c:pt>
                <c:pt idx="2">
                  <c:v>62645.16129032258</c:v>
                </c:pt>
                <c:pt idx="3">
                  <c:v>67777.77777777778</c:v>
                </c:pt>
                <c:pt idx="4">
                  <c:v>71517.24137931035</c:v>
                </c:pt>
                <c:pt idx="5">
                  <c:v>80826.08695652174</c:v>
                </c:pt>
                <c:pt idx="6">
                  <c:v>67466.66666666667</c:v>
                </c:pt>
                <c:pt idx="7">
                  <c:v>23037.03703703704</c:v>
                </c:pt>
                <c:pt idx="8">
                  <c:v>49300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E2-4413-868F-24CA4C1B8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00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תכנון FMS (ליטר)</c:v>
                </c:pt>
              </c:strCache>
            </c:strRef>
          </c:tx>
          <c:spPr>
            <a:solidFill>
              <a:srgbClr val="5A6B9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2341000</c:v>
                </c:pt>
                <c:pt idx="1">
                  <c:v>1920000</c:v>
                </c:pt>
                <c:pt idx="2">
                  <c:v>1942000</c:v>
                </c:pt>
                <c:pt idx="3">
                  <c:v>1830000</c:v>
                </c:pt>
                <c:pt idx="4">
                  <c:v>2074000</c:v>
                </c:pt>
                <c:pt idx="5">
                  <c:v>1859000</c:v>
                </c:pt>
                <c:pt idx="6">
                  <c:v>1012000</c:v>
                </c:pt>
                <c:pt idx="7">
                  <c:v>622000</c:v>
                </c:pt>
                <c:pt idx="8">
                  <c:v>493000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C-424F-B833-FAC2B6B397E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ביצוע בפועל (ליטר)</c:v>
                </c:pt>
              </c:strCache>
            </c:strRef>
          </c:tx>
          <c:spPr>
            <a:solidFill>
              <a:srgbClr val="35B6FF"/>
            </a:solidFill>
            <a:effectLst/>
          </c:spPr>
          <c:invertIfNegative val="0"/>
          <c:cat>
            <c:strRef>
              <c:f>Sheet1!$C$2:$C$10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1841196</c:v>
                </c:pt>
                <c:pt idx="1">
                  <c:v>1381276</c:v>
                </c:pt>
                <c:pt idx="2">
                  <c:v>1869141</c:v>
                </c:pt>
                <c:pt idx="3">
                  <c:v>1817916</c:v>
                </c:pt>
                <c:pt idx="4">
                  <c:v>1860908</c:v>
                </c:pt>
                <c:pt idx="5">
                  <c:v>1481188</c:v>
                </c:pt>
                <c:pt idx="6">
                  <c:v>739112</c:v>
                </c:pt>
                <c:pt idx="7">
                  <c:v>1154084</c:v>
                </c:pt>
                <c:pt idx="8">
                  <c:v>435348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BC-424F-B833-FAC2B6B397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 ליטר</c:v>
                </c:pt>
              </c:strCache>
            </c:strRef>
          </c:tx>
          <c:spPr>
            <a:solidFill>
              <a:srgbClr val="2EE6C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1126500</c:v>
                </c:pt>
                <c:pt idx="1">
                  <c:v>772060</c:v>
                </c:pt>
                <c:pt idx="2">
                  <c:v>1020765</c:v>
                </c:pt>
                <c:pt idx="3">
                  <c:v>1069000</c:v>
                </c:pt>
                <c:pt idx="4">
                  <c:v>650000</c:v>
                </c:pt>
                <c:pt idx="5">
                  <c:v>661600</c:v>
                </c:pt>
                <c:pt idx="6">
                  <c:v>172800</c:v>
                </c:pt>
                <c:pt idx="7">
                  <c:v>556460</c:v>
                </c:pt>
                <c:pt idx="8">
                  <c:v>298140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3-4B1B-8F87-2D33E9E41FC1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10 ליטר</c:v>
                </c:pt>
              </c:strCache>
            </c:strRef>
          </c:tx>
          <c:spPr>
            <a:solidFill>
              <a:srgbClr val="35B6FF"/>
            </a:solidFill>
            <a:effectLst/>
          </c:spPr>
          <c:invertIfNegative val="0"/>
          <c:cat>
            <c:strRef>
              <c:f>Sheet1!$C$2:$C$10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629800</c:v>
                </c:pt>
                <c:pt idx="1">
                  <c:v>348600</c:v>
                </c:pt>
                <c:pt idx="2">
                  <c:v>698600</c:v>
                </c:pt>
                <c:pt idx="3">
                  <c:v>668600</c:v>
                </c:pt>
                <c:pt idx="4">
                  <c:v>986380</c:v>
                </c:pt>
                <c:pt idx="5">
                  <c:v>806340</c:v>
                </c:pt>
                <c:pt idx="6">
                  <c:v>517800</c:v>
                </c:pt>
                <c:pt idx="7">
                  <c:v>550200</c:v>
                </c:pt>
                <c:pt idx="8">
                  <c:v>118200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63-4B1B-8F87-2D33E9E41FC1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20 ליטר</c:v>
                </c:pt>
              </c:strCache>
            </c:strRef>
          </c:tx>
          <c:spPr>
            <a:solidFill>
              <a:srgbClr val="FFC94D"/>
            </a:solidFill>
            <a:effectLst/>
          </c:spPr>
          <c:invertIfNegative val="0"/>
          <c:cat>
            <c:strRef>
              <c:f>Sheet1!$E$2:$E$10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26720</c:v>
                </c:pt>
                <c:pt idx="1">
                  <c:v>109440</c:v>
                </c:pt>
                <c:pt idx="2">
                  <c:v>94240</c:v>
                </c:pt>
                <c:pt idx="3">
                  <c:v>23680</c:v>
                </c:pt>
                <c:pt idx="4">
                  <c:v>165200</c:v>
                </c:pt>
                <c:pt idx="5">
                  <c:v>0</c:v>
                </c:pt>
                <c:pt idx="6">
                  <c:v>38720</c:v>
                </c:pt>
                <c:pt idx="7">
                  <c:v>19200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63-4B1B-8F87-2D33E9E41FC1}"/>
            </c:ext>
          </c:extLst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1 ליטר</c:v>
                </c:pt>
              </c:strCache>
            </c:strRef>
          </c:tx>
          <c:spPr>
            <a:solidFill>
              <a:srgbClr val="B18CFF"/>
            </a:solidFill>
            <a:effectLst/>
          </c:spPr>
          <c:invertIfNegative val="0"/>
          <c:cat>
            <c:strRef>
              <c:f>Sheet1!$G$2:$G$10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58176</c:v>
                </c:pt>
                <c:pt idx="1">
                  <c:v>151176</c:v>
                </c:pt>
                <c:pt idx="2">
                  <c:v>55536</c:v>
                </c:pt>
                <c:pt idx="3">
                  <c:v>56636</c:v>
                </c:pt>
                <c:pt idx="4">
                  <c:v>59328</c:v>
                </c:pt>
                <c:pt idx="5">
                  <c:v>13248</c:v>
                </c:pt>
                <c:pt idx="6">
                  <c:v>9792</c:v>
                </c:pt>
                <c:pt idx="7">
                  <c:v>28224</c:v>
                </c:pt>
                <c:pt idx="8">
                  <c:v>19008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63-4B1B-8F87-2D33E9E41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משמרת 1</c:v>
                </c:pt>
              </c:strCache>
            </c:strRef>
          </c:tx>
          <c:spPr>
            <a:ln w="31750" cap="flat">
              <a:solidFill>
                <a:srgbClr val="35B6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5B6FF"/>
              </a:solidFill>
              <a:ln w="9525" cap="flat">
                <a:solidFill>
                  <a:srgbClr val="35B6FF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יולי</c:v>
                </c:pt>
                <c:pt idx="1">
                  <c:v>אוגוסט</c:v>
                </c:pt>
                <c:pt idx="2">
                  <c:v>ספטמבר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176.768</c:v>
                </c:pt>
                <c:pt idx="1">
                  <c:v>371.088</c:v>
                </c:pt>
                <c:pt idx="2">
                  <c:v>152.416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64-49EC-8B22-2AFB30EAA66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משמרת 2</c:v>
                </c:pt>
              </c:strCache>
            </c:strRef>
          </c:tx>
          <c:spPr>
            <a:ln w="31750" cap="flat">
              <a:solidFill>
                <a:srgbClr val="B18C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18CFF"/>
              </a:solidFill>
              <a:ln w="9525" cap="flat">
                <a:solidFill>
                  <a:srgbClr val="B18CFF"/>
                </a:solidFill>
                <a:prstDash val="solid"/>
                <a:round/>
              </a:ln>
              <a:effectLst/>
            </c:spPr>
          </c:marker>
          <c:cat>
            <c:strRef>
              <c:f>Sheet1!$C$2:$C$4</c:f>
              <c:strCache>
                <c:ptCount val="3"/>
                <c:pt idx="0">
                  <c:v>יולי</c:v>
                </c:pt>
                <c:pt idx="1">
                  <c:v>אוגוסט</c:v>
                </c:pt>
                <c:pt idx="2">
                  <c:v>ספטמבר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242.096</c:v>
                </c:pt>
                <c:pt idx="1">
                  <c:v>311.6</c:v>
                </c:pt>
                <c:pt idx="2">
                  <c:v>107.7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64-49EC-8B22-2AFB30EAA66E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משמרת 3</c:v>
                </c:pt>
              </c:strCache>
            </c:strRef>
          </c:tx>
          <c:spPr>
            <a:ln w="31750" cap="flat">
              <a:solidFill>
                <a:srgbClr val="2EE6C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E6C9"/>
              </a:solidFill>
              <a:ln w="9525" cap="flat">
                <a:solidFill>
                  <a:srgbClr val="2EE6C9"/>
                </a:solidFill>
                <a:prstDash val="solid"/>
                <a:round/>
              </a:ln>
              <a:effectLst/>
            </c:spPr>
          </c:marker>
          <c:cat>
            <c:strRef>
              <c:f>Sheet1!$E$2:$E$4</c:f>
              <c:strCache>
                <c:ptCount val="3"/>
                <c:pt idx="0">
                  <c:v>יולי</c:v>
                </c:pt>
                <c:pt idx="1">
                  <c:v>אוגוסט</c:v>
                </c:pt>
                <c:pt idx="2">
                  <c:v>ספטמבר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320.248</c:v>
                </c:pt>
                <c:pt idx="1">
                  <c:v>471.396</c:v>
                </c:pt>
                <c:pt idx="2">
                  <c:v>175.232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64-49EC-8B22-2AFB30EAA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עלות לליטר (₪)</c:v>
                </c:pt>
              </c:strCache>
            </c:strRef>
          </c:tx>
          <c:spPr>
            <a:ln w="38100" cap="flat">
              <a:solidFill>
                <a:srgbClr val="2EE6C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E6C9"/>
              </a:solidFill>
              <a:ln w="9525" cap="flat">
                <a:solidFill>
                  <a:srgbClr val="2EE6C9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DCE6F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0.506</c:v>
                </c:pt>
                <c:pt idx="1">
                  <c:v>0.537</c:v>
                </c:pt>
                <c:pt idx="2">
                  <c:v>0.507</c:v>
                </c:pt>
                <c:pt idx="3">
                  <c:v>0.481</c:v>
                </c:pt>
                <c:pt idx="4">
                  <c:v>0.523</c:v>
                </c:pt>
                <c:pt idx="5">
                  <c:v>0.495</c:v>
                </c:pt>
                <c:pt idx="6">
                  <c:v>0.5460742079684811</c:v>
                </c:pt>
                <c:pt idx="7">
                  <c:v>0.5057491482422424</c:v>
                </c:pt>
                <c:pt idx="8">
                  <c:v>0.5231148414601652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CA-417C-B11C-25989B611AA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.4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Facility RFT</c:v>
                </c:pt>
              </c:strCache>
            </c:strRef>
          </c:tx>
          <c:spPr>
            <a:ln w="38100" cap="flat">
              <a:solidFill>
                <a:srgbClr val="2EE6C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E6C9"/>
              </a:solidFill>
              <a:ln w="9525" cap="flat">
                <a:solidFill>
                  <a:srgbClr val="2EE6C9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DCE6F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98.0764021878074</c:v>
                </c:pt>
                <c:pt idx="1">
                  <c:v>99.31513416521703</c:v>
                </c:pt>
                <c:pt idx="2">
                  <c:v>100</c:v>
                </c:pt>
                <c:pt idx="3">
                  <c:v>99.26675513543785</c:v>
                </c:pt>
                <c:pt idx="4">
                  <c:v>99.62107718677441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3-4BF8-BC88-913BFDBB92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יעד (98%)</c:v>
                </c:pt>
              </c:strCache>
            </c:strRef>
          </c:tx>
          <c:spPr>
            <a:ln w="25400" cap="flat">
              <a:solidFill>
                <a:srgbClr val="FF6B6B"/>
              </a:solidFill>
              <a:prstDash val="dash"/>
              <a:round/>
            </a:ln>
            <a:effectLst/>
          </c:spPr>
          <c:marker>
            <c:symbol val="none"/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DCE6F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Sheet1!$C$2:$C$10</c:f>
              <c:strCache>
                <c:ptCount val="9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  <c:pt idx="5">
                  <c:v>יוני</c:v>
                </c:pt>
                <c:pt idx="6">
                  <c:v>יולי</c:v>
                </c:pt>
                <c:pt idx="7">
                  <c:v>אוגוסט</c:v>
                </c:pt>
                <c:pt idx="8">
                  <c:v>ספטמבר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98</c:v>
                </c:pt>
                <c:pt idx="1">
                  <c:v>98</c:v>
                </c:pt>
                <c:pt idx="2">
                  <c:v>98</c:v>
                </c:pt>
                <c:pt idx="3">
                  <c:v>98</c:v>
                </c:pt>
                <c:pt idx="4">
                  <c:v>98</c:v>
                </c:pt>
                <c:pt idx="5">
                  <c:v>98</c:v>
                </c:pt>
                <c:pt idx="6">
                  <c:v>98</c:v>
                </c:pt>
                <c:pt idx="7">
                  <c:v>98</c:v>
                </c:pt>
                <c:pt idx="8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73-4BF8-BC88-913BFDBB92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96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COPQ ($)</c:v>
                </c:pt>
              </c:strCache>
            </c:strRef>
          </c:tx>
          <c:spPr>
            <a:solidFill>
              <a:srgbClr val="FFC9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DCE6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ינואר</c:v>
                </c:pt>
                <c:pt idx="1">
                  <c:v>פברואר</c:v>
                </c:pt>
                <c:pt idx="2">
                  <c:v>מרץ</c:v>
                </c:pt>
                <c:pt idx="3">
                  <c:v>אפריל</c:v>
                </c:pt>
                <c:pt idx="4">
                  <c:v>מאי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3674</c:v>
                </c:pt>
                <c:pt idx="1">
                  <c:v>0</c:v>
                </c:pt>
                <c:pt idx="2">
                  <c:v>0</c:v>
                </c:pt>
                <c:pt idx="3">
                  <c:v>12848</c:v>
                </c:pt>
                <c:pt idx="4">
                  <c:v>7331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2C-4A29-8D9F-183DE700AA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CE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אריזה בפועל (ליטר)</c:v>
                </c:pt>
              </c:strCache>
            </c:strRef>
          </c:tx>
          <c:spPr>
            <a:solidFill>
              <a:srgbClr val="35B6F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1.9</c:v>
                </c:pt>
                <c:pt idx="1">
                  <c:v>2.9</c:v>
                </c:pt>
                <c:pt idx="2">
                  <c:v>3.9</c:v>
                </c:pt>
                <c:pt idx="3">
                  <c:v>4.9</c:v>
                </c:pt>
                <c:pt idx="4">
                  <c:v>5.9</c:v>
                </c:pt>
                <c:pt idx="5">
                  <c:v>6.9</c:v>
                </c:pt>
                <c:pt idx="6">
                  <c:v>7.9</c:v>
                </c:pt>
                <c:pt idx="7">
                  <c:v>8.9</c:v>
                </c:pt>
                <c:pt idx="8">
                  <c:v>9.9</c:v>
                </c:pt>
                <c:pt idx="9">
                  <c:v>10.9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34464</c:v>
                </c:pt>
                <c:pt idx="1">
                  <c:v>41808</c:v>
                </c:pt>
                <c:pt idx="2">
                  <c:v>23136</c:v>
                </c:pt>
                <c:pt idx="3">
                  <c:v>51800</c:v>
                </c:pt>
                <c:pt idx="4">
                  <c:v>50200</c:v>
                </c:pt>
                <c:pt idx="5">
                  <c:v>54000</c:v>
                </c:pt>
                <c:pt idx="6">
                  <c:v>53340</c:v>
                </c:pt>
                <c:pt idx="7">
                  <c:v>40200</c:v>
                </c:pt>
                <c:pt idx="8">
                  <c:v>42000</c:v>
                </c:pt>
                <c:pt idx="9">
                  <c:v>44400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EA-4F66-9FA8-66C241946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  <c:ser>
          <c:idx val="1"/>
          <c:order val="1"/>
          <c:tx>
            <c:strRef>
              <c:f>Sheet1!$D$1</c:f>
              <c:strCache>
                <c:ptCount val="1"/>
                <c:pt idx="0">
                  <c:v>יעד יומי נגזר מהתכנון</c:v>
                </c:pt>
              </c:strCache>
            </c:strRef>
          </c:tx>
          <c:spPr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Sheet1!$C$2:$C$11</c:f>
              <c:strCache>
                <c:ptCount val="10"/>
                <c:pt idx="0">
                  <c:v>1.9</c:v>
                </c:pt>
                <c:pt idx="1">
                  <c:v>2.9</c:v>
                </c:pt>
                <c:pt idx="2">
                  <c:v>3.9</c:v>
                </c:pt>
                <c:pt idx="3">
                  <c:v>4.9</c:v>
                </c:pt>
                <c:pt idx="4">
                  <c:v>5.9</c:v>
                </c:pt>
                <c:pt idx="5">
                  <c:v>6.9</c:v>
                </c:pt>
                <c:pt idx="6">
                  <c:v>7.9</c:v>
                </c:pt>
                <c:pt idx="7">
                  <c:v>8.9</c:v>
                </c:pt>
                <c:pt idx="8">
                  <c:v>9.9</c:v>
                </c:pt>
                <c:pt idx="9">
                  <c:v>10.9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49300</c:v>
                </c:pt>
                <c:pt idx="1">
                  <c:v>49300</c:v>
                </c:pt>
                <c:pt idx="2">
                  <c:v>49300</c:v>
                </c:pt>
                <c:pt idx="3">
                  <c:v>49300</c:v>
                </c:pt>
                <c:pt idx="4">
                  <c:v>49300</c:v>
                </c:pt>
                <c:pt idx="5">
                  <c:v>49300</c:v>
                </c:pt>
                <c:pt idx="6">
                  <c:v>49300</c:v>
                </c:pt>
                <c:pt idx="7">
                  <c:v>49300</c:v>
                </c:pt>
                <c:pt idx="8">
                  <c:v>49300</c:v>
                </c:pt>
                <c:pt idx="9">
                  <c:v>49300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07-414B-A883-79E31D6D5170}"/>
            </c:ext>
          </c:extLst>
        </c:ser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"/>
        </c:scaling>
        <c:delete val="0"/>
        <c:axPos val="l"/>
        <c:majorGridlines>
          <c:spPr>
            <a:ln w="6350" cap="flat">
              <a:solidFill>
                <a:srgbClr val="2433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C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CE6F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C39"/>
    </a:solidFill>
    <a:ln>
      <a:noFill/>
    </a:ln>
    <a:effectLst/>
  </c:spPr>
  <c:externalData r:id="rIdData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07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מקור: RFT__COPQ_ 09.2026 _ 42.pptx. ערכי RFT נלקחו מגיליון מתקן 42 בקובץ Excel המוטמע. סכומי COPQ מהטבלה Total Costs ($), עמודת 42 Total. תאים ריקים אינם הוכחה לאפס עלות.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מקור: RFT__COPQ_ 09.2026 _ 42.pptx. ערכי RFT נלקחו מגיליון מתקן 42 בקובץ Excel המוטמע. סכומי COPQ מהטבלה Total Costs ($), עמודת 42 Total. תאים ריקים אינם הוכחה לאפס עלות.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9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10.xml"/><Relationship Id="rId4" Type="http://schemas.openxmlformats.org/officeDocument/2006/relationships/image" Target="../media/image6.png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0026fe0d5a446fb"/><Relationship Type="http://schemas.openxmlformats.org/officeDocument/2006/relationships/image" Target="../media/fiveS_image.jpeg" Id="R802a82f5bf01430c"/><Relationship Type="http://schemas.openxmlformats.org/officeDocument/2006/relationships/image" Target="../media/fiveS_image2.jpeg" Id="R30379b2e87ef4c07"/><Relationship Type="http://schemas.openxmlformats.org/officeDocument/2006/relationships/image" Target="../media/fiveS_image3.jpeg" Id="R850ee0a727c94523"/><Relationship Type="http://schemas.openxmlformats.org/officeDocument/2006/relationships/image" Target="../media/fiveS_image4.jpeg" Id="Rf42f8a0247c34a63"/><Relationship Id="rIdLogo5S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5028219760c24edf"/><Relationship Type="http://schemas.openxmlformats.org/officeDocument/2006/relationships/image" Target="../media/fiveS_image5.jpeg" Id="R95297d19e2594251"/><Relationship Type="http://schemas.openxmlformats.org/officeDocument/2006/relationships/image" Target="../media/fiveS_image6.jpeg" Id="R564b2f274c274b14"/><Relationship Type="http://schemas.openxmlformats.org/officeDocument/2006/relationships/image" Target="../media/fiveS_image7.jpeg" Id="R538838ae5a694d48"/><Relationship Type="http://schemas.openxmlformats.org/officeDocument/2006/relationships/image" Target="../media/fiveS_image8.jpeg" Id="R4a3b6ef2ea3541a9"/><Relationship Id="rIdLogo5S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2880"/>
            <a:ext cx="877824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123770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900" b="1" kern="0" spc="200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</a:t>
            </a:r>
            <a:endParaRPr lang="he-IL" sz="1900" dirty="0"/>
          </a:p>
        </p:txBody>
      </p:sp>
      <p:sp>
        <p:nvSpPr>
          <p:cNvPr id="4" name="Text 1"/>
          <p:cNvSpPr/>
          <p:nvPr/>
        </p:nvSpPr>
        <p:spPr>
          <a:xfrm>
            <a:off x="457200" y="15727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רבעון 3 – יולי–ספטמבר 2026</a:t>
            </a:r>
            <a:endParaRPr lang="he-IL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7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בהשוואה לחודשי השנה: ינואר–ספטמבר 2026</a:t>
            </a:r>
            <a:endParaRPr lang="he-IL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תפוקות | עמידה ביעדים | תמהיל אריזה | משמרות | עלויות</a:t>
            </a:r>
            <a:endParaRPr lang="he-IL" sz="1300" dirty="0"/>
          </a:p>
        </p:txBody>
      </p:sp>
      <p:sp>
        <p:nvSpPr>
          <p:cNvPr id="7" name="Shape 4"/>
          <p:cNvSpPr/>
          <p:nvPr/>
        </p:nvSpPr>
        <p:spPr>
          <a:xfrm>
            <a:off x="2011680" y="3611880"/>
            <a:ext cx="1554480" cy="960120"/>
          </a:xfrm>
          <a:prstGeom prst="roundRect">
            <a:avLst>
              <a:gd name="adj" fmla="val 8571"/>
            </a:avLst>
          </a:prstGeom>
          <a:solidFill>
            <a:srgbClr val="121C38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1168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2.329M</a:t>
            </a:r>
            <a:endParaRPr lang="he-IL" sz="2400" dirty="0"/>
          </a:p>
        </p:txBody>
      </p:sp>
      <p:sp>
        <p:nvSpPr>
          <p:cNvPr id="9" name="Text 6"/>
          <p:cNvSpPr/>
          <p:nvPr/>
        </p:nvSpPr>
        <p:spPr>
          <a:xfrm>
            <a:off x="201168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ליטרים ברבעון השלישי</a:t>
            </a:r>
            <a:endParaRPr lang="he-IL" sz="1050" dirty="0"/>
          </a:p>
        </p:txBody>
      </p:sp>
      <p:sp>
        <p:nvSpPr>
          <p:cNvPr id="10" name="Shape 7"/>
          <p:cNvSpPr/>
          <p:nvPr/>
        </p:nvSpPr>
        <p:spPr>
          <a:xfrm>
            <a:off x="3840480" y="3611880"/>
            <a:ext cx="1554480" cy="960120"/>
          </a:xfrm>
          <a:prstGeom prst="roundRect">
            <a:avLst>
              <a:gd name="adj" fmla="val 8571"/>
            </a:avLst>
          </a:prstGeom>
          <a:solidFill>
            <a:srgbClr val="121C38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109.5%</a:t>
            </a:r>
            <a:endParaRPr lang="he-IL" sz="2400" dirty="0"/>
          </a:p>
        </p:txBody>
      </p:sp>
      <p:sp>
        <p:nvSpPr>
          <p:cNvPr id="12" name="Text 9"/>
          <p:cNvSpPr/>
          <p:nvPr/>
        </p:nvSpPr>
        <p:spPr>
          <a:xfrm>
            <a:off x="384048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בתכנון FMS רבעוני</a:t>
            </a:r>
            <a:endParaRPr lang="he-IL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611880"/>
            <a:ext cx="1554480" cy="960120"/>
          </a:xfrm>
          <a:prstGeom prst="roundRect">
            <a:avLst>
              <a:gd name="adj" fmla="val 8571"/>
            </a:avLst>
          </a:prstGeom>
          <a:solidFill>
            <a:srgbClr val="121C38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he-IL" sz="2400" dirty="0"/>
          </a:p>
        </p:txBody>
      </p:sp>
      <p:sp>
        <p:nvSpPr>
          <p:cNvPr id="15" name="Text 12"/>
          <p:cNvSpPr/>
          <p:nvPr/>
        </p:nvSpPr>
        <p:spPr>
          <a:xfrm>
            <a:off x="5669280" y="4160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פעילות</a:t>
            </a:r>
            <a:endParaRPr lang="he-IL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סדר היום</a:t>
            </a:r>
            <a:endParaRPr lang="he-IL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932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יולי–ספטמבר 2026 בהשוואה לחודשי השנה</a:t>
            </a:r>
            <a:endParaRPr lang="he-IL" sz="1300" dirty="0"/>
          </a:p>
        </p:txBody>
      </p:sp>
      <p:sp>
        <p:nvSpPr>
          <p:cNvPr id="4" name="Shape 2"/>
          <p:cNvSpPr/>
          <p:nvPr/>
        </p:nvSpPr>
        <p:spPr>
          <a:xfrm>
            <a:off x="4709160" y="1298448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9288" y="1440180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90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8888" y="14630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12664" y="138074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 בטיחות</a:t>
            </a:r>
            <a:endParaRPr lang="he-IL" sz="1250" dirty="0"/>
          </a:p>
        </p:txBody>
      </p:sp>
      <p:sp>
        <p:nvSpPr>
          <p:cNvPr id="9" name="Text 6"/>
          <p:cNvSpPr/>
          <p:nvPr/>
        </p:nvSpPr>
        <p:spPr>
          <a:xfrm>
            <a:off x="5312664" y="1682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פירמידת הבטיחות, יחסי אירועים ואירוע התקופה</a:t>
            </a:r>
            <a:endParaRPr lang="he-IL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298448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13048" y="1440180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5590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" y="14630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06424" y="138074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תפוקות אריזה – יולי עד ספטמבר</a:t>
            </a:r>
            <a:endParaRPr lang="he-IL" sz="1250" dirty="0"/>
          </a:p>
        </p:txBody>
      </p:sp>
      <p:sp>
        <p:nvSpPr>
          <p:cNvPr id="15" name="Text 11"/>
          <p:cNvSpPr/>
          <p:nvPr/>
        </p:nvSpPr>
        <p:spPr>
          <a:xfrm>
            <a:off x="1106424" y="1682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כמויות לפי קווי אריזה והשוואה בין החודשים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4709160" y="2185416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19288" y="2327148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44602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18888" y="23500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312664" y="22677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ביעד היומי</a:t>
            </a:r>
            <a:endParaRPr lang="he-IL" sz="1250" dirty="0"/>
          </a:p>
        </p:txBody>
      </p:sp>
      <p:sp>
        <p:nvSpPr>
          <p:cNvPr id="21" name="Text 16"/>
          <p:cNvSpPr/>
          <p:nvPr/>
        </p:nvSpPr>
        <p:spPr>
          <a:xfrm>
            <a:off x="5312664" y="25694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האריזה היומי מול היעד הנגזר מהתכנון החודשי</a:t>
            </a:r>
            <a:endParaRPr lang="he-IL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2185416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813048" y="2327148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24460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2648" y="23500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106424" y="22677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לכל חודשי השנה</a:t>
            </a:r>
            <a:endParaRPr lang="he-IL" sz="1250" dirty="0"/>
          </a:p>
        </p:txBody>
      </p:sp>
      <p:sp>
        <p:nvSpPr>
          <p:cNvPr id="27" name="Text 21"/>
          <p:cNvSpPr/>
          <p:nvPr/>
        </p:nvSpPr>
        <p:spPr>
          <a:xfrm>
            <a:off x="1106424" y="25694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השוואה מלא, כולל תכנון FMS מול ביצוע</a:t>
            </a:r>
            <a:endParaRPr lang="he-IL" sz="900" dirty="0"/>
          </a:p>
        </p:txBody>
      </p:sp>
      <p:sp>
        <p:nvSpPr>
          <p:cNvPr id="28" name="Shape 22"/>
          <p:cNvSpPr/>
          <p:nvPr/>
        </p:nvSpPr>
        <p:spPr>
          <a:xfrm>
            <a:off x="4709160" y="3072384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019288" y="3214116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3329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18888" y="32369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5312664" y="31546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תמהיל אריזה לאורך התקופה</a:t>
            </a:r>
            <a:endParaRPr lang="he-IL" sz="1250" dirty="0"/>
          </a:p>
        </p:txBody>
      </p:sp>
      <p:sp>
        <p:nvSpPr>
          <p:cNvPr id="33" name="Text 26"/>
          <p:cNvSpPr/>
          <p:nvPr/>
        </p:nvSpPr>
        <p:spPr>
          <a:xfrm>
            <a:off x="5312664" y="3456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התפלגות הקווים והסיפור של קו 20 הליטר</a:t>
            </a:r>
            <a:endParaRPr lang="he-IL" sz="900" dirty="0"/>
          </a:p>
        </p:txBody>
      </p:sp>
      <p:sp>
        <p:nvSpPr>
          <p:cNvPr id="34" name="Shape 27"/>
          <p:cNvSpPr/>
          <p:nvPr/>
        </p:nvSpPr>
        <p:spPr>
          <a:xfrm>
            <a:off x="502920" y="3072384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813048" y="3214116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33329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2648" y="32369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1106424" y="31546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משמרות ברבעון השלישי</a:t>
            </a:r>
            <a:endParaRPr lang="he-IL" sz="1250" dirty="0"/>
          </a:p>
        </p:txBody>
      </p:sp>
      <p:sp>
        <p:nvSpPr>
          <p:cNvPr id="39" name="Text 31"/>
          <p:cNvSpPr/>
          <p:nvPr/>
        </p:nvSpPr>
        <p:spPr>
          <a:xfrm>
            <a:off x="1106424" y="3456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תפוקה לפי משמרת, חודש אחר חודש</a:t>
            </a:r>
            <a:endParaRPr lang="he-IL" sz="900" dirty="0"/>
          </a:p>
        </p:txBody>
      </p:sp>
      <p:sp>
        <p:nvSpPr>
          <p:cNvPr id="40" name="Shape 32"/>
          <p:cNvSpPr/>
          <p:nvPr/>
        </p:nvSpPr>
        <p:spPr>
          <a:xfrm>
            <a:off x="4709160" y="3959352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8019288" y="4101084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4219956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818888" y="412394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5312664" y="40416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 איכות</a:t>
            </a:r>
            <a:endParaRPr lang="he-IL" sz="1250" dirty="0"/>
          </a:p>
        </p:txBody>
      </p:sp>
      <p:sp>
        <p:nvSpPr>
          <p:cNvPr id="45" name="Text 36"/>
          <p:cNvSpPr/>
          <p:nvPr/>
        </p:nvSpPr>
        <p:spPr>
          <a:xfrm>
            <a:off x="5312664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RFT מול יעד 98% ועלויות אי-איכות (COPQ)</a:t>
            </a:r>
            <a:endParaRPr lang="he-IL" sz="900" dirty="0"/>
          </a:p>
        </p:txBody>
      </p:sp>
      <p:sp>
        <p:nvSpPr>
          <p:cNvPr id="46" name="Shape 37"/>
          <p:cNvSpPr/>
          <p:nvPr/>
        </p:nvSpPr>
        <p:spPr>
          <a:xfrm>
            <a:off x="502920" y="3959352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3813048" y="4101084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1920" y="4219956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12648" y="412394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0" name="Text 40"/>
          <p:cNvSpPr/>
          <p:nvPr/>
        </p:nvSpPr>
        <p:spPr>
          <a:xfrm>
            <a:off x="1106424" y="40416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he-IL" sz="1250" dirty="0"/>
          </a:p>
        </p:txBody>
      </p:sp>
      <p:sp>
        <p:nvSpPr>
          <p:cNvPr id="51" name="Text 41"/>
          <p:cNvSpPr/>
          <p:nvPr/>
        </p:nvSpPr>
        <p:spPr>
          <a:xfrm>
            <a:off x="1106424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מגמות, חריגים וכיווני פעולה לרבעון הבא</a:t>
            </a:r>
            <a:endParaRPr lang="he-IL" sz="900" dirty="0"/>
          </a:p>
        </p:txBody>
      </p:sp>
      <p:pic>
        <p:nvPicPr>
          <p:cNvPr id="52" name="Image 8" descr="logo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54" name="Text 43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 בטיחות – מתקן 42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פירמידת הבטיחות: מצטבר שנתי ותקופת יולי–ספטמבר</a:t>
            </a:r>
            <a:endParaRPr lang="he-IL" sz="1200" dirty="0"/>
          </a:p>
        </p:txBody>
      </p:sp>
      <p:sp>
        <p:nvSpPr>
          <p:cNvPr id="5" name="Text 2"/>
          <p:cNvSpPr/>
          <p:nvPr/>
        </p:nvSpPr>
        <p:spPr>
          <a:xfrm>
            <a:off x="2743200" y="804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שנתי</a:t>
            </a:r>
            <a:endParaRPr lang="he-IL" sz="1100" dirty="0"/>
          </a:p>
        </p:txBody>
      </p:sp>
      <p:sp>
        <p:nvSpPr>
          <p:cNvPr id="6" name="Text 3"/>
          <p:cNvSpPr/>
          <p:nvPr/>
        </p:nvSpPr>
        <p:spPr>
          <a:xfrm>
            <a:off x="1737360" y="804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רבעון 3</a:t>
            </a:r>
            <a:endParaRPr lang="he-IL" sz="1100" dirty="0"/>
          </a:p>
        </p:txBody>
      </p:sp>
      <p:sp>
        <p:nvSpPr>
          <p:cNvPr id="7" name="Shape 4"/>
          <p:cNvSpPr/>
          <p:nvPr/>
        </p:nvSpPr>
        <p:spPr>
          <a:xfrm>
            <a:off x="5623560" y="1060704"/>
            <a:ext cx="1097280" cy="429768"/>
          </a:xfrm>
          <a:prstGeom prst="roundRect">
            <a:avLst>
              <a:gd name="adj" fmla="val 8511"/>
            </a:avLst>
          </a:prstGeom>
          <a:solidFill>
            <a:srgbClr val="C0392B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23560" y="110642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מוות</a:t>
            </a:r>
            <a:endParaRPr lang="he-IL" sz="950" dirty="0"/>
          </a:p>
        </p:txBody>
      </p:sp>
      <p:sp>
        <p:nvSpPr>
          <p:cNvPr id="9" name="Shape 6"/>
          <p:cNvSpPr/>
          <p:nvPr/>
        </p:nvSpPr>
        <p:spPr>
          <a:xfrm>
            <a:off x="2743200" y="1060704"/>
            <a:ext cx="914400" cy="429768"/>
          </a:xfrm>
          <a:prstGeom prst="roundRect">
            <a:avLst>
              <a:gd name="adj" fmla="val 8511"/>
            </a:avLst>
          </a:prstGeom>
          <a:solidFill>
            <a:srgbClr val="C0392B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0" y="108813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737360" y="1060704"/>
            <a:ext cx="914400" cy="429768"/>
          </a:xfrm>
          <a:prstGeom prst="roundRect">
            <a:avLst>
              <a:gd name="adj" fmla="val 8511"/>
            </a:avLst>
          </a:prstGeom>
          <a:solidFill>
            <a:srgbClr val="C0392B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737360" y="108813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03520" y="1545336"/>
            <a:ext cx="1737360" cy="429768"/>
          </a:xfrm>
          <a:prstGeom prst="roundRect">
            <a:avLst>
              <a:gd name="adj" fmla="val 8511"/>
            </a:avLst>
          </a:prstGeom>
          <a:solidFill>
            <a:srgbClr val="9AA0A6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03520" y="1591056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5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בלתי הפיך</a:t>
            </a:r>
            <a:endParaRPr lang="he-IL" sz="950" dirty="0"/>
          </a:p>
        </p:txBody>
      </p:sp>
      <p:sp>
        <p:nvSpPr>
          <p:cNvPr id="15" name="Shape 12"/>
          <p:cNvSpPr/>
          <p:nvPr/>
        </p:nvSpPr>
        <p:spPr>
          <a:xfrm>
            <a:off x="2743200" y="1545336"/>
            <a:ext cx="914400" cy="429768"/>
          </a:xfrm>
          <a:prstGeom prst="roundRect">
            <a:avLst>
              <a:gd name="adj" fmla="val 8511"/>
            </a:avLst>
          </a:prstGeom>
          <a:solidFill>
            <a:srgbClr val="9AA0A6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0" y="157276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737360" y="1545336"/>
            <a:ext cx="914400" cy="429768"/>
          </a:xfrm>
          <a:prstGeom prst="roundRect">
            <a:avLst>
              <a:gd name="adj" fmla="val 8511"/>
            </a:avLst>
          </a:prstGeom>
          <a:solidFill>
            <a:srgbClr val="9AA0A6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737360" y="157276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83480" y="2029968"/>
            <a:ext cx="2377440" cy="429768"/>
          </a:xfrm>
          <a:prstGeom prst="roundRect">
            <a:avLst>
              <a:gd name="adj" fmla="val 8511"/>
            </a:avLst>
          </a:prstGeom>
          <a:solidFill>
            <a:srgbClr val="8BC34A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207568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היעדרות</a:t>
            </a:r>
            <a:endParaRPr lang="he-IL" sz="1100" dirty="0"/>
          </a:p>
        </p:txBody>
      </p:sp>
      <p:sp>
        <p:nvSpPr>
          <p:cNvPr id="21" name="Shape 18"/>
          <p:cNvSpPr/>
          <p:nvPr/>
        </p:nvSpPr>
        <p:spPr>
          <a:xfrm>
            <a:off x="2743200" y="2029968"/>
            <a:ext cx="914400" cy="429768"/>
          </a:xfrm>
          <a:prstGeom prst="roundRect">
            <a:avLst>
              <a:gd name="adj" fmla="val 8511"/>
            </a:avLst>
          </a:prstGeom>
          <a:solidFill>
            <a:srgbClr val="8BC34A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0" y="205740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737360" y="2029968"/>
            <a:ext cx="914400" cy="429768"/>
          </a:xfrm>
          <a:prstGeom prst="roundRect">
            <a:avLst>
              <a:gd name="adj" fmla="val 8511"/>
            </a:avLst>
          </a:prstGeom>
          <a:solidFill>
            <a:srgbClr val="8BC34A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737360" y="205740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63440" y="2514600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E67E22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3440" y="2560320"/>
            <a:ext cx="3017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רפואי</a:t>
            </a:r>
            <a:endParaRPr lang="he-IL" sz="1100" dirty="0"/>
          </a:p>
        </p:txBody>
      </p:sp>
      <p:sp>
        <p:nvSpPr>
          <p:cNvPr id="27" name="Shape 24"/>
          <p:cNvSpPr/>
          <p:nvPr/>
        </p:nvSpPr>
        <p:spPr>
          <a:xfrm>
            <a:off x="2743200" y="2514600"/>
            <a:ext cx="914400" cy="429768"/>
          </a:xfrm>
          <a:prstGeom prst="roundRect">
            <a:avLst>
              <a:gd name="adj" fmla="val 8511"/>
            </a:avLst>
          </a:prstGeom>
          <a:solidFill>
            <a:srgbClr val="E67E22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43200" y="254203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737360" y="2514600"/>
            <a:ext cx="914400" cy="429768"/>
          </a:xfrm>
          <a:prstGeom prst="roundRect">
            <a:avLst>
              <a:gd name="adj" fmla="val 8511"/>
            </a:avLst>
          </a:prstGeom>
          <a:solidFill>
            <a:srgbClr val="E67E22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737360" y="254203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343400" y="2999232"/>
            <a:ext cx="3657600" cy="429768"/>
          </a:xfrm>
          <a:prstGeom prst="roundRect">
            <a:avLst>
              <a:gd name="adj" fmla="val 8511"/>
            </a:avLst>
          </a:prstGeom>
          <a:solidFill>
            <a:srgbClr val="F1C40F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43400" y="304495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עזרה ראשונה</a:t>
            </a:r>
            <a:endParaRPr lang="he-IL" sz="1100" dirty="0"/>
          </a:p>
        </p:txBody>
      </p:sp>
      <p:sp>
        <p:nvSpPr>
          <p:cNvPr id="33" name="Shape 30"/>
          <p:cNvSpPr/>
          <p:nvPr/>
        </p:nvSpPr>
        <p:spPr>
          <a:xfrm>
            <a:off x="2743200" y="2999232"/>
            <a:ext cx="914400" cy="429768"/>
          </a:xfrm>
          <a:prstGeom prst="roundRect">
            <a:avLst>
              <a:gd name="adj" fmla="val 8511"/>
            </a:avLst>
          </a:prstGeom>
          <a:solidFill>
            <a:srgbClr val="F1C40F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0" y="302666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737360" y="2999232"/>
            <a:ext cx="914400" cy="429768"/>
          </a:xfrm>
          <a:prstGeom prst="roundRect">
            <a:avLst>
              <a:gd name="adj" fmla="val 8511"/>
            </a:avLst>
          </a:prstGeom>
          <a:solidFill>
            <a:srgbClr val="F1C40F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737360" y="302666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023360" y="3483864"/>
            <a:ext cx="4297680" cy="429768"/>
          </a:xfrm>
          <a:prstGeom prst="roundRect">
            <a:avLst>
              <a:gd name="adj" fmla="val 8511"/>
            </a:avLst>
          </a:prstGeom>
          <a:solidFill>
            <a:srgbClr val="8E44AD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023360" y="3529584"/>
            <a:ext cx="4297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ונפגע</a:t>
            </a:r>
            <a:endParaRPr lang="he-IL" sz="1100" dirty="0"/>
          </a:p>
        </p:txBody>
      </p:sp>
      <p:sp>
        <p:nvSpPr>
          <p:cNvPr id="39" name="Shape 36"/>
          <p:cNvSpPr/>
          <p:nvPr/>
        </p:nvSpPr>
        <p:spPr>
          <a:xfrm>
            <a:off x="2743200" y="3483864"/>
            <a:ext cx="914400" cy="429768"/>
          </a:xfrm>
          <a:prstGeom prst="roundRect">
            <a:avLst>
              <a:gd name="adj" fmla="val 8511"/>
            </a:avLst>
          </a:prstGeom>
          <a:solidFill>
            <a:srgbClr val="8E44AD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743200" y="351129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737360" y="3483864"/>
            <a:ext cx="914400" cy="429768"/>
          </a:xfrm>
          <a:prstGeom prst="roundRect">
            <a:avLst>
              <a:gd name="adj" fmla="val 8511"/>
            </a:avLst>
          </a:prstGeom>
          <a:solidFill>
            <a:srgbClr val="8E44AD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737360" y="351129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794760" y="3968496"/>
            <a:ext cx="4754880" cy="429768"/>
          </a:xfrm>
          <a:prstGeom prst="roundRect">
            <a:avLst>
              <a:gd name="adj" fmla="val 8511"/>
            </a:avLst>
          </a:prstGeom>
          <a:solidFill>
            <a:srgbClr val="2E86DE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794760" y="4014216"/>
            <a:ext cx="4754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לא בטיחותי / מפגעים</a:t>
            </a:r>
            <a:endParaRPr lang="he-IL" sz="1100" dirty="0"/>
          </a:p>
        </p:txBody>
      </p:sp>
      <p:sp>
        <p:nvSpPr>
          <p:cNvPr id="45" name="Shape 42"/>
          <p:cNvSpPr/>
          <p:nvPr/>
        </p:nvSpPr>
        <p:spPr>
          <a:xfrm>
            <a:off x="2743200" y="3968496"/>
            <a:ext cx="914400" cy="429768"/>
          </a:xfrm>
          <a:prstGeom prst="roundRect">
            <a:avLst>
              <a:gd name="adj" fmla="val 8511"/>
            </a:avLst>
          </a:prstGeom>
          <a:solidFill>
            <a:srgbClr val="2E86DE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43200" y="399592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737360" y="3968496"/>
            <a:ext cx="914400" cy="429768"/>
          </a:xfrm>
          <a:prstGeom prst="roundRect">
            <a:avLst>
              <a:gd name="adj" fmla="val 8511"/>
            </a:avLst>
          </a:prstGeom>
          <a:solidFill>
            <a:srgbClr val="2E86DE"/>
          </a:solidFill>
          <a:ln w="9525">
            <a:solidFill>
              <a:srgbClr val="0A1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737360" y="399592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74320" y="1234440"/>
            <a:ext cx="1371600" cy="14173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29184" y="129844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8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אירועים משמעותיים / אירועי עזרה ראשונה</a:t>
            </a:r>
            <a:endParaRPr lang="he-IL" sz="800" dirty="0"/>
          </a:p>
        </p:txBody>
      </p:sp>
      <p:sp>
        <p:nvSpPr>
          <p:cNvPr id="51" name="Text 48"/>
          <p:cNvSpPr/>
          <p:nvPr/>
        </p:nvSpPr>
        <p:spPr>
          <a:xfrm>
            <a:off x="329184" y="1892808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יעד: ~1:10</a:t>
            </a:r>
            <a:endParaRPr lang="he-IL" sz="1100" dirty="0"/>
          </a:p>
        </p:txBody>
      </p:sp>
      <p:sp>
        <p:nvSpPr>
          <p:cNvPr id="52" name="Text 49"/>
          <p:cNvSpPr/>
          <p:nvPr/>
        </p:nvSpPr>
        <p:spPr>
          <a:xfrm>
            <a:off x="329184" y="22219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בפועל: 1:1.5</a:t>
            </a:r>
            <a:endParaRPr lang="he-IL" sz="1300" dirty="0"/>
          </a:p>
        </p:txBody>
      </p:sp>
      <p:sp>
        <p:nvSpPr>
          <p:cNvPr id="53" name="Shape 50"/>
          <p:cNvSpPr/>
          <p:nvPr/>
        </p:nvSpPr>
        <p:spPr>
          <a:xfrm>
            <a:off x="274320" y="2834640"/>
            <a:ext cx="1371600" cy="14173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29184" y="289864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8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אירועים משמעותיים / כמעט ונפגע ומפגעים</a:t>
            </a:r>
            <a:endParaRPr lang="he-IL" sz="800" dirty="0"/>
          </a:p>
        </p:txBody>
      </p:sp>
      <p:sp>
        <p:nvSpPr>
          <p:cNvPr id="55" name="Text 52"/>
          <p:cNvSpPr/>
          <p:nvPr/>
        </p:nvSpPr>
        <p:spPr>
          <a:xfrm>
            <a:off x="329184" y="3493008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b="1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יעד: ~1:100</a:t>
            </a:r>
            <a:endParaRPr lang="he-IL" sz="1100" dirty="0"/>
          </a:p>
        </p:txBody>
      </p:sp>
      <p:sp>
        <p:nvSpPr>
          <p:cNvPr id="56" name="Text 53"/>
          <p:cNvSpPr/>
          <p:nvPr/>
        </p:nvSpPr>
        <p:spPr>
          <a:xfrm>
            <a:off x="329184" y="3822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בפועל: 1:12.5</a:t>
            </a:r>
            <a:endParaRPr lang="he-IL" sz="1300" dirty="0"/>
          </a:p>
        </p:txBody>
      </p:sp>
      <p:sp>
        <p:nvSpPr>
          <p:cNvPr id="57" name="Shape 54"/>
          <p:cNvSpPr/>
          <p:nvPr/>
        </p:nvSpPr>
        <p:spPr>
          <a:xfrm>
            <a:off x="502920" y="4507992"/>
            <a:ext cx="8183880" cy="384048"/>
          </a:xfrm>
          <a:prstGeom prst="roundRect">
            <a:avLst>
              <a:gd name="adj" fmla="val 21429"/>
            </a:avLst>
          </a:prstGeom>
          <a:solidFill>
            <a:srgbClr val="3D3413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31520" y="4553712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1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רבעון 3: אירוע עזרה ראשונה אחד ו־6 מפגעים. ללא ימי היעדרות או טיפול רפואי. תיאור האירוע להשלמה.</a:t>
            </a:r>
            <a:r>
              <a:rPr lang="he-IL" altLang="en-US" sz="11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150" dirty="0"/>
          </a:p>
        </p:txBody>
      </p:sp>
      <p:pic>
        <p:nvPicPr>
          <p:cNvPr id="59" name="Image 1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61" name="Text 57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תפוקות אריזה – רבעון 3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6200000" y="1005840"/>
            <a:ext cx="258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7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יולי 2026</a:t>
            </a:r>
            <a:endParaRPr lang="he-IL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417445"/>
              </p:ext>
            </p:extLst>
          </p:nvPr>
        </p:nvGraphicFramePr>
        <p:xfrm>
          <a:off x="6200000" y="1417320"/>
          <a:ext cx="2580000" cy="2359152"/>
        </p:xfrm>
        <a:graphic>
          <a:graphicData uri="http://schemas.openxmlformats.org/drawingml/2006/table">
            <a:tbl>
              <a:tblPr/>
              <a:tblGrid>
                <a:gridCol w="860000"/>
                <a:gridCol w="860000"/>
                <a:gridCol w="860000"/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 אריזה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ליטרים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172,800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517,800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739,112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360000" y="1005840"/>
            <a:ext cx="258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7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he-IL" sz="1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9618"/>
              </p:ext>
            </p:extLst>
          </p:nvPr>
        </p:nvGraphicFramePr>
        <p:xfrm>
          <a:off x="3360000" y="1417320"/>
          <a:ext cx="2580000" cy="2359152"/>
        </p:xfrm>
        <a:graphic>
          <a:graphicData uri="http://schemas.openxmlformats.org/drawingml/2006/table">
            <a:tbl>
              <a:tblPr/>
              <a:tblGrid>
                <a:gridCol w="860000"/>
                <a:gridCol w="860000"/>
                <a:gridCol w="860000"/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 אריזה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ליטרים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556,460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550,200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1,154,084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02920" y="4069080"/>
            <a:ext cx="8183880" cy="777240"/>
          </a:xfrm>
          <a:prstGeom prst="roundRect">
            <a:avLst>
              <a:gd name="adj" fmla="val 10588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142232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סך התפוקה ברבעון: 2,328,544 ליטר ב־52 ימי אריזה. הימים ללא תפוקה כוללים פגרה, בהתאם לאישור מנהל המתקן. ממוצע ליום אריזה: 44,780 ליטר.</a:t>
            </a:r>
            <a:r>
              <a:rPr lang="he-IL" alt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50" dirty="0"/>
          </a:p>
        </p:txBody>
      </p:sp>
      <p:pic>
        <p:nvPicPr>
          <p:cNvPr id="10" name="Image 1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2" name="Text 6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19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9618"/>
              </p:ext>
            </p:extLst>
          </p:nvPr>
        </p:nvGraphicFramePr>
        <p:xfrm>
          <a:off x="520000" y="1417320"/>
          <a:ext cx="2580000" cy="2359152"/>
        </p:xfrm>
        <a:graphic>
          <a:graphicData uri="http://schemas.openxmlformats.org/drawingml/2006/table">
            <a:tbl>
              <a:tblPr/>
              <a:tblGrid>
                <a:gridCol w="860000"/>
                <a:gridCol w="860000"/>
                <a:gridCol w="860000"/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 אריזה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ליטרים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298,140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118,200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Liter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435,348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191" name="month-3"/>
          <p:cNvSpPr/>
          <p:nvPr/>
        </p:nvSpPr>
        <p:spPr>
          <a:xfrm>
            <a:off x="520000" y="1005840"/>
            <a:ext cx="258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7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ספטמבר 2026</a:t>
            </a:r>
            <a:endParaRPr lang="he-IL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FMS מול ביצוע – רבעון 3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768096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וביצוע לפי צילומי דוחות FMS ליולי–ספטמבר (באלפי ליטרים)</a:t>
            </a:r>
            <a:endParaRPr lang="he-IL" sz="1200" dirty="0"/>
          </a:p>
        </p:txBody>
      </p:sp>
      <p:sp>
        <p:nvSpPr>
          <p:cNvPr id="5" name="Text 2"/>
          <p:cNvSpPr/>
          <p:nvPr/>
        </p:nvSpPr>
        <p:spPr>
          <a:xfrm>
            <a:off x="6200000" y="1005840"/>
            <a:ext cx="258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יולי 2026</a:t>
            </a:r>
            <a:endParaRPr lang="he-IL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27071"/>
              </p:ext>
            </p:extLst>
          </p:nvPr>
        </p:nvGraphicFramePr>
        <p:xfrm>
          <a:off x="6200000" y="1417320"/>
          <a:ext cx="2580000" cy="2103120"/>
        </p:xfrm>
        <a:graphic>
          <a:graphicData uri="http://schemas.openxmlformats.org/drawingml/2006/table">
            <a:tbl>
              <a:tblPr/>
              <a:tblGrid>
                <a:gridCol w="645000"/>
                <a:gridCol w="645000"/>
                <a:gridCol w="645000"/>
                <a:gridCol w="6450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תכנון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C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C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10/20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C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C9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360000" y="1005840"/>
            <a:ext cx="258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he-IL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93799"/>
              </p:ext>
            </p:extLst>
          </p:nvPr>
        </p:nvGraphicFramePr>
        <p:xfrm>
          <a:off x="3360000" y="1417320"/>
          <a:ext cx="2580000" cy="2103120"/>
        </p:xfrm>
        <a:graphic>
          <a:graphicData uri="http://schemas.openxmlformats.org/drawingml/2006/table">
            <a:tbl>
              <a:tblPr/>
              <a:tblGrid>
                <a:gridCol w="645000"/>
                <a:gridCol w="645000"/>
                <a:gridCol w="645000"/>
                <a:gridCol w="6450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תכנון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10/20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2920" y="3977640"/>
            <a:ext cx="8183880" cy="868680"/>
          </a:xfrm>
          <a:prstGeom prst="roundRect">
            <a:avLst>
              <a:gd name="adj" fmla="val 9474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31520" y="4087368"/>
            <a:ext cx="7726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FMS ברבעון: 2,338 אלף ליטר מול תכנון 2,127 אלף, 109.9%. שיעורי הקווים לפי הדוחות. נתוני האריזה באקסל מוצגים בנפרד בשקופית התפוקות.</a:t>
            </a:r>
            <a:r>
              <a:rPr lang="he-IL" altLang="en-US" sz="12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00" dirty="0"/>
          </a:p>
        </p:txBody>
      </p:sp>
      <p:pic>
        <p:nvPicPr>
          <p:cNvPr id="8" name="Image 1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3" name="Text 7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19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93799"/>
              </p:ext>
            </p:extLst>
          </p:nvPr>
        </p:nvGraphicFramePr>
        <p:xfrm>
          <a:off x="520000" y="1417320"/>
          <a:ext cx="2580000" cy="2103120"/>
        </p:xfrm>
        <a:graphic>
          <a:graphicData uri="http://schemas.openxmlformats.org/drawingml/2006/table">
            <a:tbl>
              <a:tblPr/>
              <a:tblGrid>
                <a:gridCol w="645000"/>
                <a:gridCol w="645000"/>
                <a:gridCol w="645000"/>
                <a:gridCol w="6450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תכנון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10/20 ל׳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סה״כ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marL="30000" marR="30000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191" name="month-3"/>
          <p:cNvSpPr/>
          <p:nvPr/>
        </p:nvSpPr>
        <p:spPr>
          <a:xfrm>
            <a:off x="520000" y="1005840"/>
            <a:ext cx="258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ספטמבר 2026</a:t>
            </a:r>
            <a:endParaRPr lang="he-IL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ביעד יומי – יולי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היעד היומי: 1,012 אלפי ליטר ÷ 15 ימי אריזה = 67,467 ליטר ליום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מתוך 15</a:t>
            </a:r>
            <a:endParaRPr lang="he-IL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ימים בהם הושג היעד</a:t>
            </a:r>
            <a:endParaRPr lang="he-IL" sz="1000" dirty="0"/>
          </a:p>
        </p:txBody>
      </p:sp>
      <p:sp>
        <p:nvSpPr>
          <p:cNvPr id="9" name="Shape 5"/>
          <p:cNvSpPr/>
          <p:nvPr/>
        </p:nvSpPr>
        <p:spPr>
          <a:xfrm>
            <a:off x="260604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0604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49,274</a:t>
            </a:r>
            <a:endParaRPr lang="he-IL" sz="1600" dirty="0"/>
          </a:p>
        </p:txBody>
      </p:sp>
      <p:sp>
        <p:nvSpPr>
          <p:cNvPr id="11" name="Text 7"/>
          <p:cNvSpPr/>
          <p:nvPr/>
        </p:nvSpPr>
        <p:spPr>
          <a:xfrm>
            <a:off x="260604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ליטרים ליום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83,800</a:t>
            </a:r>
            <a:endParaRPr lang="he-IL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 יומי – 23.7</a:t>
            </a:r>
            <a:endParaRPr lang="he-IL" sz="1000" dirty="0"/>
          </a:p>
        </p:txBody>
      </p:sp>
      <p:sp>
        <p:nvSpPr>
          <p:cNvPr id="15" name="Shape 11"/>
          <p:cNvSpPr/>
          <p:nvPr/>
        </p:nvSpPr>
        <p:spPr>
          <a:xfrm>
            <a:off x="681228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1228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18,336</a:t>
            </a:r>
            <a:endParaRPr lang="he-IL" sz="1600" dirty="0"/>
          </a:p>
        </p:txBody>
      </p:sp>
      <p:sp>
        <p:nvSpPr>
          <p:cNvPr id="17" name="Text 13"/>
          <p:cNvSpPr/>
          <p:nvPr/>
        </p:nvSpPr>
        <p:spPr>
          <a:xfrm>
            <a:off x="681228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שפל יומי – 30.7</a:t>
            </a:r>
            <a:endParaRPr lang="he-IL" sz="1000" dirty="0"/>
          </a:p>
        </p:txBody>
      </p:sp>
      <p:pic>
        <p:nvPicPr>
          <p:cNvPr id="18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0" name="Text 1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ביעד יומי – אוגוסט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היעד היומי: 622 אלפי ליטר ÷ 27 ימי אריזה = 23,037 ליטר ליום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מתוך 27</a:t>
            </a:r>
            <a:endParaRPr lang="he-IL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ימים בהם הושג היעד</a:t>
            </a:r>
            <a:endParaRPr lang="he-IL" sz="1000" dirty="0"/>
          </a:p>
        </p:txBody>
      </p:sp>
      <p:sp>
        <p:nvSpPr>
          <p:cNvPr id="9" name="Shape 5"/>
          <p:cNvSpPr/>
          <p:nvPr/>
        </p:nvSpPr>
        <p:spPr>
          <a:xfrm>
            <a:off x="260604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0604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42,744</a:t>
            </a:r>
            <a:endParaRPr lang="he-IL" sz="1600" dirty="0"/>
          </a:p>
        </p:txBody>
      </p:sp>
      <p:sp>
        <p:nvSpPr>
          <p:cNvPr id="11" name="Text 7"/>
          <p:cNvSpPr/>
          <p:nvPr/>
        </p:nvSpPr>
        <p:spPr>
          <a:xfrm>
            <a:off x="260604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ליטרים ליום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60,600</a:t>
            </a:r>
            <a:endParaRPr lang="he-IL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 יומי – 10.8</a:t>
            </a:r>
            <a:endParaRPr lang="he-IL" sz="1000" dirty="0"/>
          </a:p>
        </p:txBody>
      </p:sp>
      <p:sp>
        <p:nvSpPr>
          <p:cNvPr id="15" name="Shape 11"/>
          <p:cNvSpPr/>
          <p:nvPr/>
        </p:nvSpPr>
        <p:spPr>
          <a:xfrm>
            <a:off x="681228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1228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he-IL" sz="1600" dirty="0"/>
          </a:p>
        </p:txBody>
      </p:sp>
      <p:sp>
        <p:nvSpPr>
          <p:cNvPr id="17" name="Text 13"/>
          <p:cNvSpPr/>
          <p:nvPr/>
        </p:nvSpPr>
        <p:spPr>
          <a:xfrm>
            <a:off x="681228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שפל יומי – 14.8</a:t>
            </a:r>
            <a:endParaRPr lang="he-IL" sz="1000" dirty="0"/>
          </a:p>
        </p:txBody>
      </p:sp>
      <p:pic>
        <p:nvPicPr>
          <p:cNvPr id="18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0" name="Text 1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רבעון 3 מול כל חודשי השנה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ינואר–יוני מהמצגת המקורית; יולי–ספטמבר מסכומי שורות האריזה</a:t>
            </a:r>
            <a:endParaRPr lang="he-IL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83880" cy="3127248"/>
        </p:xfrm>
        <a:graphic>
          <a:graphicData uri="http://schemas.openxmlformats.org/drawingml/2006/table">
            <a:tbl>
              <a:tblPr/>
              <a:tblGrid>
                <a:gridCol w="818388"/>
                <a:gridCol w="818388"/>
                <a:gridCol w="818388"/>
                <a:gridCol w="818388"/>
                <a:gridCol w="818388"/>
                <a:gridCol w="818388"/>
                <a:gridCol w="818388"/>
                <a:gridCol w="818388"/>
                <a:gridCol w="818388"/>
                <a:gridCol w="818388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מדד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ינואר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פברואר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מרץ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אפריל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מאי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יוני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יולי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אוגוסט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ספטמבר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ליטרים שנארזו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1,841,196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1,381,276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1,869,141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1,817,916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1,860,908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1,481,188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739,112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1,154,084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435,348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ימי אריזה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ממוצע ליטרים ליום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49,274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תכנון FMS (אלפי ליטר)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עמידה בתכנון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 יומי מהתכנון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ימים שעמדו ביעד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15/31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14/27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עלות לליטר (₪)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9D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E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526280"/>
            <a:ext cx="8183880" cy="384048"/>
          </a:xfrm>
          <a:prstGeom prst="roundRect">
            <a:avLst>
              <a:gd name="adj" fmla="val 21429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31520" y="4562856"/>
            <a:ext cx="7726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1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Q3: תפוקה 2,328,544 ליטר | תכנון 2,127,000 ליטר | ביצוע 109.5%
52 ימי אריזה | 31 ימים ביעד | ממוצע 44,780 ליטר ליום | עלות 0.522 ₪ לליטר</a:t>
            </a:r>
            <a:r>
              <a:rPr lang="he-IL" altLang="en-US" sz="11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150" dirty="0"/>
          </a:p>
        </p:txBody>
      </p:sp>
      <p:pic>
        <p:nvPicPr>
          <p:cNvPr id="8" name="Image 1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0" name="Text 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מגמות מרכזיות – ינואר עד ספטמבר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ליטרים ליום אריזה מול יעד יומי הנגזר מתכנון FMS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-31.4%</a:t>
            </a:r>
            <a:endParaRPr lang="he-IL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יומי: רבעון 3 מול רבעון 2</a:t>
            </a:r>
            <a:endParaRPr lang="he-IL" sz="1000" dirty="0"/>
          </a:p>
        </p:txBody>
      </p:sp>
      <p:sp>
        <p:nvSpPr>
          <p:cNvPr id="9" name="Shape 5"/>
          <p:cNvSpPr/>
          <p:nvPr/>
        </p:nvSpPr>
        <p:spPr>
          <a:xfrm>
            <a:off x="260604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0604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49,274</a:t>
            </a:r>
            <a:endParaRPr lang="he-IL" sz="1600" dirty="0"/>
          </a:p>
        </p:txBody>
      </p:sp>
      <p:sp>
        <p:nvSpPr>
          <p:cNvPr id="11" name="Text 7"/>
          <p:cNvSpPr/>
          <p:nvPr/>
        </p:nvSpPr>
        <p:spPr>
          <a:xfrm>
            <a:off x="260604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יומי גבוה ברבעון – יולי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he-IL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 אריזה ברבעון השלישי</a:t>
            </a:r>
            <a:endParaRPr lang="he-IL" sz="1000" dirty="0"/>
          </a:p>
        </p:txBody>
      </p:sp>
      <p:sp>
        <p:nvSpPr>
          <p:cNvPr id="15" name="Shape 11"/>
          <p:cNvSpPr/>
          <p:nvPr/>
        </p:nvSpPr>
        <p:spPr>
          <a:xfrm>
            <a:off x="681228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1228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0.522 ₪</a:t>
            </a:r>
            <a:endParaRPr lang="he-IL" sz="1600" dirty="0"/>
          </a:p>
        </p:txBody>
      </p:sp>
      <p:sp>
        <p:nvSpPr>
          <p:cNvPr id="17" name="Text 13"/>
          <p:cNvSpPr/>
          <p:nvPr/>
        </p:nvSpPr>
        <p:spPr>
          <a:xfrm>
            <a:off x="681228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קבלן לליטר ברבעון השלישי</a:t>
            </a:r>
            <a:endParaRPr lang="he-IL" sz="1000" dirty="0"/>
          </a:p>
        </p:txBody>
      </p:sp>
      <p:pic>
        <p:nvPicPr>
          <p:cNvPr id="18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0" name="Text 1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FMS מול ביצוע – ינואר עד ספטמבר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FMS חודשי מול תפוקת האריזה באקסל; ינואר–יוני מהמצגת המקורית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he-IL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מול תכנון – יולי</a:t>
            </a:r>
            <a:endParaRPr lang="he-IL" sz="900" dirty="0"/>
          </a:p>
        </p:txBody>
      </p:sp>
      <p:sp>
        <p:nvSpPr>
          <p:cNvPr id="9" name="Shape 5"/>
          <p:cNvSpPr/>
          <p:nvPr/>
        </p:nvSpPr>
        <p:spPr>
          <a:xfrm>
            <a:off x="1883664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883664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185.5%</a:t>
            </a:r>
            <a:endParaRPr lang="he-IL" sz="1500" dirty="0"/>
          </a:p>
        </p:txBody>
      </p:sp>
      <p:sp>
        <p:nvSpPr>
          <p:cNvPr id="11" name="Text 7"/>
          <p:cNvSpPr/>
          <p:nvPr/>
        </p:nvSpPr>
        <p:spPr>
          <a:xfrm>
            <a:off x="1883664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מול תכנון – אוגוסט</a:t>
            </a:r>
            <a:endParaRPr lang="he-IL" sz="900" dirty="0"/>
          </a:p>
        </p:txBody>
      </p:sp>
      <p:sp>
        <p:nvSpPr>
          <p:cNvPr id="12" name="Shape 8"/>
          <p:cNvSpPr/>
          <p:nvPr/>
        </p:nvSpPr>
        <p:spPr>
          <a:xfrm>
            <a:off x="3264408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264408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88.3%</a:t>
            </a:r>
            <a:endParaRPr lang="he-IL" sz="1500" dirty="0"/>
          </a:p>
        </p:txBody>
      </p:sp>
      <p:sp>
        <p:nvSpPr>
          <p:cNvPr id="14" name="Text 10"/>
          <p:cNvSpPr/>
          <p:nvPr/>
        </p:nvSpPr>
        <p:spPr>
          <a:xfrm>
            <a:off x="3264408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מול תכנון – ספטמבר</a:t>
            </a:r>
            <a:endParaRPr lang="he-IL" sz="900" dirty="0"/>
          </a:p>
        </p:txBody>
      </p:sp>
      <p:sp>
        <p:nvSpPr>
          <p:cNvPr id="15" name="Shape 11"/>
          <p:cNvSpPr/>
          <p:nvPr/>
        </p:nvSpPr>
        <p:spPr>
          <a:xfrm>
            <a:off x="4645152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45152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109.5%</a:t>
            </a:r>
            <a:endParaRPr lang="he-IL" sz="1500" dirty="0"/>
          </a:p>
        </p:txBody>
      </p:sp>
      <p:sp>
        <p:nvSpPr>
          <p:cNvPr id="17" name="Text 13"/>
          <p:cNvSpPr/>
          <p:nvPr/>
        </p:nvSpPr>
        <p:spPr>
          <a:xfrm>
            <a:off x="4645152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מול תכנון – רבעון 3</a:t>
            </a:r>
            <a:endParaRPr lang="he-IL" sz="900" dirty="0"/>
          </a:p>
        </p:txBody>
      </p:sp>
      <p:sp>
        <p:nvSpPr>
          <p:cNvPr id="18" name="Shape 14"/>
          <p:cNvSpPr/>
          <p:nvPr/>
        </p:nvSpPr>
        <p:spPr>
          <a:xfrm>
            <a:off x="6025896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025896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2.127M</a:t>
            </a:r>
            <a:endParaRPr lang="he-IL" sz="1500" dirty="0"/>
          </a:p>
        </p:txBody>
      </p:sp>
      <p:sp>
        <p:nvSpPr>
          <p:cNvPr id="20" name="Text 16"/>
          <p:cNvSpPr/>
          <p:nvPr/>
        </p:nvSpPr>
        <p:spPr>
          <a:xfrm>
            <a:off x="6025896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רבעוני בליטרים</a:t>
            </a:r>
            <a:endParaRPr lang="he-IL" sz="900" dirty="0"/>
          </a:p>
        </p:txBody>
      </p:sp>
      <p:sp>
        <p:nvSpPr>
          <p:cNvPr id="21" name="Shape 17"/>
          <p:cNvSpPr/>
          <p:nvPr/>
        </p:nvSpPr>
        <p:spPr>
          <a:xfrm>
            <a:off x="7406640" y="416052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406640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2.329M</a:t>
            </a:r>
            <a:endParaRPr lang="he-IL" sz="1500" dirty="0"/>
          </a:p>
        </p:txBody>
      </p:sp>
      <p:sp>
        <p:nvSpPr>
          <p:cNvPr id="23" name="Text 19"/>
          <p:cNvSpPr/>
          <p:nvPr/>
        </p:nvSpPr>
        <p:spPr>
          <a:xfrm>
            <a:off x="740664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9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רבעוני לפי האקסל</a:t>
            </a:r>
            <a:endParaRPr lang="he-IL" sz="900" dirty="0"/>
          </a:p>
        </p:txBody>
      </p:sp>
      <p:pic>
        <p:nvPicPr>
          <p:cNvPr id="24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6" name="Text 21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תמהיל אריזה לפי קווים – ינואר עד ספטמבר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ליטרים לפי גודל אריזה בכל חודש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14800"/>
            <a:ext cx="8183880" cy="777240"/>
          </a:xfrm>
          <a:prstGeom prst="roundRect">
            <a:avLst>
              <a:gd name="adj" fmla="val 10588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31520" y="4178808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ברבעון 3: 5 ליטר – 44.1%, 10 ליטר – 50.9%. אריזת 20 ליטר: 38,720 ליטר ביולי, 19,200 באוגוסט וללא תפוקה בספטמבר.</a:t>
            </a:r>
            <a:r>
              <a:rPr lang="he-IL" altLang="en-US" sz="12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00" dirty="0"/>
          </a:p>
        </p:txBody>
      </p:sp>
      <p:pic>
        <p:nvPicPr>
          <p:cNvPr id="8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0" name="Text 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משמרות – תפוקה ועלות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אלפי ליטרים לחודש בכל משמרת, יולי–ספטמבר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1234440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172200" y="1289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3</a:t>
            </a:r>
            <a:endParaRPr lang="he-IL" sz="1250" dirty="0"/>
          </a:p>
        </p:txBody>
      </p:sp>
      <p:sp>
        <p:nvSpPr>
          <p:cNvPr id="8" name="Text 4"/>
          <p:cNvSpPr/>
          <p:nvPr/>
        </p:nvSpPr>
        <p:spPr>
          <a:xfrm>
            <a:off x="6172200" y="15361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 מיליון ליטר – 41.5%</a:t>
            </a:r>
            <a:endParaRPr lang="he-IL" sz="1000" dirty="0"/>
          </a:p>
        </p:txBody>
      </p:sp>
      <p:sp>
        <p:nvSpPr>
          <p:cNvPr id="9" name="Text 5"/>
          <p:cNvSpPr/>
          <p:nvPr/>
        </p:nvSpPr>
        <p:spPr>
          <a:xfrm>
            <a:off x="6172200" y="17647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המשמרת בעלת נפח האריזה הגבוה ברבעון</a:t>
            </a:r>
            <a:endParaRPr lang="he-IL" sz="850" dirty="0"/>
          </a:p>
        </p:txBody>
      </p:sp>
      <p:sp>
        <p:nvSpPr>
          <p:cNvPr id="10" name="Shape 6"/>
          <p:cNvSpPr/>
          <p:nvPr/>
        </p:nvSpPr>
        <p:spPr>
          <a:xfrm>
            <a:off x="6080760" y="2185416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17220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1</a:t>
            </a:r>
            <a:endParaRPr lang="he-IL" sz="1250" dirty="0"/>
          </a:p>
        </p:txBody>
      </p:sp>
      <p:sp>
        <p:nvSpPr>
          <p:cNvPr id="12" name="Text 8"/>
          <p:cNvSpPr/>
          <p:nvPr/>
        </p:nvSpPr>
        <p:spPr>
          <a:xfrm>
            <a:off x="6172200" y="248716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0.700 מיליון ליטר – 30.1%</a:t>
            </a:r>
            <a:endParaRPr lang="he-IL" sz="1000" dirty="0"/>
          </a:p>
        </p:txBody>
      </p:sp>
      <p:sp>
        <p:nvSpPr>
          <p:cNvPr id="13" name="Text 9"/>
          <p:cNvSpPr/>
          <p:nvPr/>
        </p:nvSpPr>
        <p:spPr>
          <a:xfrm>
            <a:off x="6172200" y="27157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תפוקה לפי סכומי ארבעת גדלי האריזה</a:t>
            </a:r>
            <a:endParaRPr lang="he-IL" sz="850" dirty="0"/>
          </a:p>
        </p:txBody>
      </p:sp>
      <p:sp>
        <p:nvSpPr>
          <p:cNvPr id="14" name="Shape 10"/>
          <p:cNvSpPr/>
          <p:nvPr/>
        </p:nvSpPr>
        <p:spPr>
          <a:xfrm>
            <a:off x="6080760" y="3136392"/>
            <a:ext cx="2606040" cy="841248"/>
          </a:xfrm>
          <a:prstGeom prst="roundRect">
            <a:avLst>
              <a:gd name="adj" fmla="val 9783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72200" y="31912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50" b="1" dirty="0">
                <a:solidFill>
                  <a:srgbClr val="B1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2</a:t>
            </a:r>
            <a:endParaRPr lang="he-IL" sz="1250" dirty="0"/>
          </a:p>
        </p:txBody>
      </p:sp>
      <p:sp>
        <p:nvSpPr>
          <p:cNvPr id="16" name="Text 12"/>
          <p:cNvSpPr/>
          <p:nvPr/>
        </p:nvSpPr>
        <p:spPr>
          <a:xfrm>
            <a:off x="6172200" y="343814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0.661 מיליון ליטר – 28.4%</a:t>
            </a:r>
            <a:endParaRPr lang="he-IL" sz="1000" dirty="0"/>
          </a:p>
        </p:txBody>
      </p:sp>
      <p:sp>
        <p:nvSpPr>
          <p:cNvPr id="17" name="Text 13"/>
          <p:cNvSpPr/>
          <p:nvPr/>
        </p:nvSpPr>
        <p:spPr>
          <a:xfrm>
            <a:off x="6172200" y="36667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עלות לפי משמרת ממתין לאישור שיטת ההקצאה</a:t>
            </a:r>
            <a:endParaRPr lang="he-IL" sz="850" dirty="0"/>
          </a:p>
        </p:txBody>
      </p:sp>
      <p:sp>
        <p:nvSpPr>
          <p:cNvPr id="18" name="Shape 14"/>
          <p:cNvSpPr/>
          <p:nvPr/>
        </p:nvSpPr>
        <p:spPr>
          <a:xfrm>
            <a:off x="502920" y="4160520"/>
            <a:ext cx="8183880" cy="640080"/>
          </a:xfrm>
          <a:prstGeom prst="roundRect">
            <a:avLst>
              <a:gd name="adj" fmla="val 12857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4233672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3 מרכזת 41.5% מתפוקת הרבעון. פערי תפוקה אינם מעידים לבדם על יעילות, בשל הבדלים בתמהיל ובזמן הפעילות.</a:t>
            </a:r>
            <a:r>
              <a:rPr lang="he-IL" alt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50" dirty="0"/>
          </a:p>
        </p:txBody>
      </p:sp>
      <p:pic>
        <p:nvPicPr>
          <p:cNvPr id="20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2" name="Text 17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ייצור לליטר – ינואר עד ספטמבר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סה״כ לתשלום בקובץ החודשי חלקי ליטרים מסכומי שורות האריזה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18872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188720"/>
            <a:ext cx="283464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852160" y="1261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0.522 ₪</a:t>
            </a:r>
            <a:endParaRPr lang="he-IL" sz="2400" dirty="0"/>
          </a:p>
        </p:txBody>
      </p:sp>
      <p:sp>
        <p:nvSpPr>
          <p:cNvPr id="8" name="Text 4"/>
          <p:cNvSpPr/>
          <p:nvPr/>
        </p:nvSpPr>
        <p:spPr>
          <a:xfrm>
            <a:off x="5852160" y="1719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משוקללת ברבעון השלישי</a:t>
            </a:r>
            <a:endParaRPr lang="he-IL" sz="1100" dirty="0"/>
          </a:p>
        </p:txBody>
      </p:sp>
      <p:sp>
        <p:nvSpPr>
          <p:cNvPr id="9" name="Shape 5"/>
          <p:cNvSpPr/>
          <p:nvPr/>
        </p:nvSpPr>
        <p:spPr>
          <a:xfrm>
            <a:off x="5852160" y="2157984"/>
            <a:ext cx="283464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52160" y="22311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0.506 ₪</a:t>
            </a:r>
            <a:endParaRPr lang="he-IL" sz="2400" dirty="0"/>
          </a:p>
        </p:txBody>
      </p:sp>
      <p:sp>
        <p:nvSpPr>
          <p:cNvPr id="11" name="Text 7"/>
          <p:cNvSpPr/>
          <p:nvPr/>
        </p:nvSpPr>
        <p:spPr>
          <a:xfrm>
            <a:off x="5852160" y="2688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החודש הזול ברבעון – אוגוסט</a:t>
            </a:r>
            <a:endParaRPr lang="he-IL" sz="1100" dirty="0"/>
          </a:p>
        </p:txBody>
      </p:sp>
      <p:sp>
        <p:nvSpPr>
          <p:cNvPr id="12" name="Shape 8"/>
          <p:cNvSpPr/>
          <p:nvPr/>
        </p:nvSpPr>
        <p:spPr>
          <a:xfrm>
            <a:off x="5852160" y="3127248"/>
            <a:ext cx="283464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5216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0.546 ₪</a:t>
            </a:r>
            <a:endParaRPr lang="he-IL" sz="2400" dirty="0"/>
          </a:p>
        </p:txBody>
      </p:sp>
      <p:sp>
        <p:nvSpPr>
          <p:cNvPr id="14" name="Text 10"/>
          <p:cNvSpPr/>
          <p:nvPr/>
        </p:nvSpPr>
        <p:spPr>
          <a:xfrm>
            <a:off x="5852160" y="3657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1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החודש היקר ברבעון – יולי</a:t>
            </a:r>
            <a:endParaRPr lang="he-IL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4206240"/>
            <a:ext cx="8183880" cy="658368"/>
          </a:xfrm>
          <a:prstGeom prst="roundRect">
            <a:avLst>
              <a:gd name="adj" fmla="val 12500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4261104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סך תשלום Q3 לפי שורת ״סה״כ לתשלום״: 1,215,024 ₪. יולי: 403,610 ₪; אוגוסט: 583,677 ₪; ספטמבר: 227,737 ₪. נדרש אישור שהסכומים סופיים.</a:t>
            </a:r>
            <a:r>
              <a:rPr lang="he-IL" alt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50" dirty="0"/>
          </a:p>
        </p:txBody>
      </p:sp>
      <p:pic>
        <p:nvPicPr>
          <p:cNvPr id="17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9" name="Text 14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R.F.T – איכות מהפעם הראשונה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RFT לפי דוח האיכות של מתקן 42; היעד: מעל 98%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18872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1188720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80760" y="1261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he-IL" sz="2400" dirty="0"/>
          </a:p>
        </p:txBody>
      </p:sp>
      <p:sp>
        <p:nvSpPr>
          <p:cNvPr id="8" name="Text 4"/>
          <p:cNvSpPr/>
          <p:nvPr/>
        </p:nvSpPr>
        <p:spPr>
          <a:xfrm>
            <a:off x="6080760" y="17190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RFT מצטבר ינואר–ספטמבר</a:t>
            </a:r>
            <a:endParaRPr lang="he-IL" sz="1050" dirty="0"/>
          </a:p>
        </p:txBody>
      </p:sp>
      <p:sp>
        <p:nvSpPr>
          <p:cNvPr id="9" name="Shape 5"/>
          <p:cNvSpPr/>
          <p:nvPr/>
        </p:nvSpPr>
        <p:spPr>
          <a:xfrm>
            <a:off x="6080760" y="2176272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080760" y="22494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he-IL" sz="2400" dirty="0"/>
          </a:p>
        </p:txBody>
      </p:sp>
      <p:sp>
        <p:nvSpPr>
          <p:cNvPr id="11" name="Text 7"/>
          <p:cNvSpPr/>
          <p:nvPr/>
        </p:nvSpPr>
        <p:spPr>
          <a:xfrm>
            <a:off x="6080760" y="27066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RFT בכל אחד מחודשי Q3</a:t>
            </a:r>
            <a:endParaRPr lang="he-IL" sz="1050" dirty="0"/>
          </a:p>
        </p:txBody>
      </p:sp>
      <p:sp>
        <p:nvSpPr>
          <p:cNvPr id="12" name="Shape 8"/>
          <p:cNvSpPr/>
          <p:nvPr/>
        </p:nvSpPr>
        <p:spPr>
          <a:xfrm>
            <a:off x="6080760" y="3163824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80760" y="32369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מתוך 3</a:t>
            </a:r>
            <a:endParaRPr lang="he-IL" sz="2400" dirty="0"/>
          </a:p>
        </p:txBody>
      </p:sp>
      <p:sp>
        <p:nvSpPr>
          <p:cNvPr id="14" name="Text 10"/>
          <p:cNvSpPr/>
          <p:nvPr/>
        </p:nvSpPr>
        <p:spPr>
          <a:xfrm>
            <a:off x="6080760" y="36941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חודשי Q3 מעל היעד</a:t>
            </a:r>
            <a:endParaRPr lang="he-IL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4206240"/>
            <a:ext cx="8183880" cy="640080"/>
          </a:xfrm>
          <a:prstGeom prst="roundRect">
            <a:avLst>
              <a:gd name="adj" fmla="val 12857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4279392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יולי, אוגוסט וספטמבר: RFT של 100% בכל חודש. המצטבר השנתי בדוח: 99.6%, מעל יעד 98%. מקור: דוח איכות מתקן 42, ספטמבר 2026.</a:t>
            </a:r>
            <a:r>
              <a:rPr lang="he-IL" alt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50" dirty="0"/>
          </a:p>
        </p:txBody>
      </p:sp>
      <p:pic>
        <p:nvPicPr>
          <p:cNvPr id="17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9" name="Text 14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אי-איכות (COPQ) – מתקן 42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דוח COPQ עד ספטמבר 2026, בדולרים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18872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1188720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80760" y="1261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23,852 $</a:t>
            </a:r>
            <a:endParaRPr lang="he-IL" sz="2300" dirty="0"/>
          </a:p>
        </p:txBody>
      </p:sp>
      <p:sp>
        <p:nvSpPr>
          <p:cNvPr id="8" name="Text 4"/>
          <p:cNvSpPr/>
          <p:nvPr/>
        </p:nvSpPr>
        <p:spPr>
          <a:xfrm>
            <a:off x="6080760" y="17190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אי־איכות מצטברת עד ספטמבר</a:t>
            </a:r>
            <a:endParaRPr lang="he-IL" sz="1050" dirty="0"/>
          </a:p>
        </p:txBody>
      </p:sp>
      <p:sp>
        <p:nvSpPr>
          <p:cNvPr id="9" name="Shape 5"/>
          <p:cNvSpPr/>
          <p:nvPr/>
        </p:nvSpPr>
        <p:spPr>
          <a:xfrm>
            <a:off x="6080760" y="2176272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080760" y="22494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3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1.27%</a:t>
            </a:r>
            <a:endParaRPr lang="he-IL" sz="2300" dirty="0"/>
          </a:p>
        </p:txBody>
      </p:sp>
      <p:sp>
        <p:nvSpPr>
          <p:cNvPr id="11" name="Text 7"/>
          <p:cNvSpPr/>
          <p:nvPr/>
        </p:nvSpPr>
        <p:spPr>
          <a:xfrm>
            <a:off x="6080760" y="27066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חלקו של מתקן 42 מסך האתר</a:t>
            </a:r>
            <a:endParaRPr lang="he-IL" sz="1050" dirty="0"/>
          </a:p>
        </p:txBody>
      </p:sp>
      <p:sp>
        <p:nvSpPr>
          <p:cNvPr id="12" name="Shape 8"/>
          <p:cNvSpPr/>
          <p:nvPr/>
        </p:nvSpPr>
        <p:spPr>
          <a:xfrm>
            <a:off x="6080760" y="3163824"/>
            <a:ext cx="2606040" cy="877824"/>
          </a:xfrm>
          <a:prstGeom prst="roundRect">
            <a:avLst>
              <a:gd name="adj" fmla="val 9375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80760" y="32369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3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דווח</a:t>
            </a:r>
            <a:endParaRPr lang="he-IL" sz="2300" dirty="0"/>
          </a:p>
        </p:txBody>
      </p:sp>
      <p:sp>
        <p:nvSpPr>
          <p:cNvPr id="14" name="Text 10"/>
          <p:cNvSpPr/>
          <p:nvPr/>
        </p:nvSpPr>
        <p:spPr>
          <a:xfrm>
            <a:off x="6080760" y="36941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5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תאי COPQ ברבעון 3 ריקים</a:t>
            </a:r>
            <a:endParaRPr lang="he-IL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4206240"/>
            <a:ext cx="8183880" cy="640080"/>
          </a:xfrm>
          <a:prstGeom prst="roundRect">
            <a:avLst>
              <a:gd name="adj" fmla="val 12857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4279392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he-IL" altLang="en-US" sz="125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בדוח מופיעים 23,852 $ למתקן 42 מול 1,875,147 $ לכל האתר. תאי יולי–ספטמבר ריקים; אין לפרש אותם כאפס עלות מאושר.</a:t>
            </a:r>
            <a:r>
              <a:rPr lang="he-IL" alt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he-IL" sz="1250" dirty="0"/>
          </a:p>
        </p:txBody>
      </p:sp>
      <p:pic>
        <p:nvPicPr>
          <p:cNvPr id="17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19" name="Text 14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תובנות, חריגים והמלצות</a:t>
            </a:r>
            <a:endParaRPr lang="he-IL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818388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1188720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30759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06984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השפעת הפגרה על היקף הפעילות</a:t>
            </a:r>
            <a:endParaRPr lang="he-IL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408176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ברבעון נרשמו 52 ימי אריזה: 15 ביולי, 27 באוגוסט ו־10 בספטמבר. מנהל המתקן אישר שהימים ללא תפוקה כוללים פגרה. ממוצע הרבעון: 44,780 ליטר ליום אריזה.</a:t>
            </a:r>
            <a:endParaRPr lang="he-IL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993392"/>
            <a:ext cx="818388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0" y="2176272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2951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7440" y="2057400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3 מובילה בנפח האריזה</a:t>
            </a:r>
            <a:endParaRPr lang="he-IL" sz="1400" dirty="0"/>
          </a:p>
        </p:txBody>
      </p:sp>
      <p:sp>
        <p:nvSpPr>
          <p:cNvPr id="12" name="Text 8"/>
          <p:cNvSpPr/>
          <p:nvPr/>
        </p:nvSpPr>
        <p:spPr>
          <a:xfrm>
            <a:off x="685800" y="2395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3 ארזה 966,876 ליטר, שהם 41.5% מהתפוקה. לשם השוואת יעילות נדרשים בסיס שעות אחיד וניתוח תמהיל האריזה.</a:t>
            </a:r>
            <a:endParaRPr lang="he-IL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2980944"/>
            <a:ext cx="818388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55280" y="3163824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32826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77440" y="304495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במשקל אריזת 20 ליטר</a:t>
            </a:r>
            <a:endParaRPr lang="he-IL" sz="1400" dirty="0"/>
          </a:p>
        </p:txBody>
      </p:sp>
      <p:sp>
        <p:nvSpPr>
          <p:cNvPr id="17" name="Text 12"/>
          <p:cNvSpPr/>
          <p:nvPr/>
        </p:nvSpPr>
        <p:spPr>
          <a:xfrm>
            <a:off x="685800" y="3383280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התפוקה באריזת 20 ליטר ירדה מ־38,720 ליטר ביולי ל־19,200 באוגוסט ולאפס בספטמבר. הסיבה לשינוי והמלצה ניהולית יושלמו על ידי מנהל המתקן.</a:t>
            </a:r>
            <a:endParaRPr lang="he-IL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3968496"/>
            <a:ext cx="8183880" cy="859536"/>
          </a:xfrm>
          <a:prstGeom prst="roundRect">
            <a:avLst>
              <a:gd name="adj" fmla="val 9574"/>
            </a:avLst>
          </a:prstGeom>
          <a:solidFill>
            <a:srgbClr val="141F3D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955280" y="4151376"/>
            <a:ext cx="493776" cy="493776"/>
          </a:xfrm>
          <a:prstGeom prst="ellipse">
            <a:avLst/>
          </a:prstGeom>
          <a:solidFill>
            <a:srgbClr val="1E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427024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77440" y="4032504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איכות גבוהה ופער דיווח ב־COPQ</a:t>
            </a:r>
            <a:endParaRPr lang="he-IL" sz="1400" dirty="0"/>
          </a:p>
        </p:txBody>
      </p:sp>
      <p:sp>
        <p:nvSpPr>
          <p:cNvPr id="22" name="Text 16"/>
          <p:cNvSpPr/>
          <p:nvPr/>
        </p:nvSpPr>
        <p:spPr>
          <a:xfrm>
            <a:off x="685800" y="4370832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0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RFT של 100% בכל אחד מחודשי Q3 ומצטבר שנתי של 99.6% לפי דוח האיכות. COPQ מצטבר: 23,852 $. נדרש אישור האם התאים הריקים ברבעון 3 מציינים אפס עלות.</a:t>
            </a:r>
            <a:endParaRPr lang="he-IL" sz="1050" dirty="0"/>
          </a:p>
        </p:txBody>
      </p:sp>
      <p:pic>
        <p:nvPicPr>
          <p:cNvPr id="23" name="Image 4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5" name="Text 18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594360"/>
            <a:ext cx="1024128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רבה!</a:t>
            </a:r>
            <a:endParaRPr lang="he-IL" sz="5200" dirty="0"/>
          </a:p>
        </p:txBody>
      </p:sp>
      <p:sp>
        <p:nvSpPr>
          <p:cNvPr id="4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20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סיום סיכום רבעון 3, 2026</a:t>
            </a:r>
            <a:endParaRPr lang="he-IL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4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42 – אריזה נוזלית</a:t>
            </a:r>
            <a:endParaRPr lang="he-IL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עמידה ביעד יומי – ספטמבר</a:t>
            </a:r>
            <a:endParaRPr lang="he-IL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היעד היומי: 493 אלפי ליטר ÷ 10 ימי אריזה = 49,300 ליטר ליום</a:t>
            </a:r>
            <a:endParaRPr lang="he-IL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234440"/>
          <a:ext cx="8183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2E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מתוך 10</a:t>
            </a:r>
            <a:endParaRPr lang="he-IL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ימים בהם הושג היעד</a:t>
            </a:r>
            <a:endParaRPr lang="he-IL" sz="1000" dirty="0"/>
          </a:p>
        </p:txBody>
      </p:sp>
      <p:sp>
        <p:nvSpPr>
          <p:cNvPr id="9" name="Shape 5"/>
          <p:cNvSpPr/>
          <p:nvPr/>
        </p:nvSpPr>
        <p:spPr>
          <a:xfrm>
            <a:off x="260604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0604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3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43,535</a:t>
            </a:r>
            <a:endParaRPr lang="he-IL" sz="1600" dirty="0"/>
          </a:p>
        </p:txBody>
      </p:sp>
      <p:sp>
        <p:nvSpPr>
          <p:cNvPr id="11" name="Text 7"/>
          <p:cNvSpPr/>
          <p:nvPr/>
        </p:nvSpPr>
        <p:spPr>
          <a:xfrm>
            <a:off x="260604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ליטרים ליום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5D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54,000</a:t>
            </a:r>
            <a:endParaRPr lang="he-IL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שיא יומי – 6.9</a:t>
            </a:r>
            <a:endParaRPr lang="he-IL" sz="1000" dirty="0"/>
          </a:p>
        </p:txBody>
      </p:sp>
      <p:sp>
        <p:nvSpPr>
          <p:cNvPr id="15" name="Shape 11"/>
          <p:cNvSpPr/>
          <p:nvPr/>
        </p:nvSpPr>
        <p:spPr>
          <a:xfrm>
            <a:off x="6812280" y="4160520"/>
            <a:ext cx="1965960" cy="749808"/>
          </a:xfrm>
          <a:prstGeom prst="roundRect">
            <a:avLst>
              <a:gd name="adj" fmla="val 10976"/>
            </a:avLst>
          </a:prstGeom>
          <a:solidFill>
            <a:srgbClr val="16234A"/>
          </a:solidFill>
          <a:ln w="9525">
            <a:solidFill>
              <a:srgbClr val="2A3A66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1228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23,136</a:t>
            </a:r>
            <a:endParaRPr lang="he-IL" sz="1600" dirty="0"/>
          </a:p>
        </p:txBody>
      </p:sp>
      <p:sp>
        <p:nvSpPr>
          <p:cNvPr id="17" name="Text 13"/>
          <p:cNvSpPr/>
          <p:nvPr/>
        </p:nvSpPr>
        <p:spPr>
          <a:xfrm>
            <a:off x="681228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שפל יומי – 3.9</a:t>
            </a:r>
            <a:endParaRPr lang="he-IL" sz="1000" dirty="0"/>
          </a:p>
        </p:txBody>
      </p:sp>
      <p:pic>
        <p:nvPicPr>
          <p:cNvPr id="18" name="Image 1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60720" y="4946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altLang="en-US" sz="80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מתקן אריזה נוזלית 42  |  סיכום רבעון 3, 2026</a:t>
            </a:r>
            <a:endParaRPr lang="he-IL" sz="800" dirty="0"/>
          </a:p>
        </p:txBody>
      </p:sp>
      <p:sp>
        <p:nvSpPr>
          <p:cNvPr id="20" name="Text 15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>
  <p:cSld>
    <p:bg xmlns:a="http://schemas.openxmlformats.org/drawingml/2006/main" xmlns:r="http://schemas.openxmlformats.org/officeDocument/2006/relationships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4AA99876-1A88-48A5-87F7-03E0A2F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5S במתקן 42 – חלק משגרת העבודה</a:t>
            </a:r>
          </a:p>
        </p:txBody>
      </p:sp>
      <p:sp>
        <p:nvSpPr>
          <p:cNvPr id="2" name="before-0">
            <a:extLst xmlns:a="http://schemas.openxmlformats.org/drawingml/2006/main">
              <a:ext uri="{FF2B5EF4-FFF2-40B4-BE49-F238E27FC236}">
                <a16:creationId xmlns:a16="http://schemas.microsoft.com/office/drawing/2014/main" id="{33F01582-D073-41E3-910E-6D493CC1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287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FFC84D"/>
                </a:solidFill>
                <a:latin typeface="Arial"/>
                <a:ea typeface="Arial"/>
                <a:cs typeface="Arial"/>
              </a:rPr>
              <a:t>כניסת המתקן – לפני</a:t>
            </a:r>
          </a:p>
        </p:txBody>
      </p:sp>
      <p:sp>
        <p:nvSpPr>
          <p:cNvPr id="3" name="after-0">
            <a:extLst xmlns:a="http://schemas.openxmlformats.org/drawingml/2006/main">
              <a:ext uri="{FF2B5EF4-FFF2-40B4-BE49-F238E27FC236}">
                <a16:creationId xmlns:a16="http://schemas.microsoft.com/office/drawing/2014/main" id="{57D5C78E-9CE6-46B5-AF7C-78B2096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כניסת המתקן – אחרי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220D8-24D3-49DC-AF70-D05EE217C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a82f5bf01430c"/>
          <a:stretch xmlns:a="http://schemas.openxmlformats.org/drawingml/2006/main"/>
        </p:blipFill>
        <p:spPr>
          <a:xfrm xmlns:a="http://schemas.openxmlformats.org/drawingml/2006/main">
            <a:off x="3433763" y="1285875"/>
            <a:ext cx="1943100" cy="1457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70D2-F20C-4E71-938C-15509DA8D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79b2e87ef4c07"/>
          <a:stretch xmlns:a="http://schemas.openxmlformats.org/drawingml/2006/main"/>
        </p:blipFill>
        <p:spPr>
          <a:xfrm xmlns:a="http://schemas.openxmlformats.org/drawingml/2006/main">
            <a:off x="766763" y="1285875"/>
            <a:ext cx="1943100" cy="1457325"/>
          </a:xfrm>
          <a:prstGeom xmlns:a="http://schemas.openxmlformats.org/drawingml/2006/main" prst="rect">
            <a:avLst/>
          </a:prstGeom>
        </p:spPr>
      </p:pic>
      <p:sp>
        <p:nvSpPr>
          <p:cNvPr id="6" name="before-1">
            <a:extLst xmlns:a="http://schemas.openxmlformats.org/drawingml/2006/main">
              <a:ext uri="{FF2B5EF4-FFF2-40B4-BE49-F238E27FC236}">
                <a16:creationId xmlns:a16="http://schemas.microsoft.com/office/drawing/2014/main" id="{B902FAFD-0419-4AD9-B821-9497A108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FFC84D"/>
                </a:solidFill>
                <a:latin typeface="Arial"/>
                <a:ea typeface="Arial"/>
                <a:cs typeface="Arial"/>
              </a:rPr>
              <a:t>אולם אריזה 1/5 ליטר – לפני</a:t>
            </a:r>
          </a:p>
        </p:txBody>
      </p:sp>
      <p:sp>
        <p:nvSpPr>
          <p:cNvPr id="7" name="after-1">
            <a:extLst xmlns:a="http://schemas.openxmlformats.org/drawingml/2006/main">
              <a:ext uri="{FF2B5EF4-FFF2-40B4-BE49-F238E27FC236}">
                <a16:creationId xmlns:a16="http://schemas.microsoft.com/office/drawing/2014/main" id="{027EE94B-907C-43C7-8042-72DC23F9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אולם אריזה 1/5 ליטר – אחרי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AFB30-1831-47A7-8F15-54A28A04F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ee0a727c94523"/>
          <a:stretch xmlns:a="http://schemas.openxmlformats.org/drawingml/2006/main"/>
        </p:blipFill>
        <p:spPr>
          <a:xfrm xmlns:a="http://schemas.openxmlformats.org/drawingml/2006/main">
            <a:off x="3433763" y="3067050"/>
            <a:ext cx="1943100" cy="14573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2A81-5B72-48B9-9F56-1F2472318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f8a0247c34a63"/>
          <a:stretch xmlns:a="http://schemas.openxmlformats.org/drawingml/2006/main"/>
        </p:blipFill>
        <p:spPr>
          <a:xfrm xmlns:a="http://schemas.openxmlformats.org/drawingml/2006/main">
            <a:off x="766763" y="3067050"/>
            <a:ext cx="1943100" cy="1457325"/>
          </a:xfrm>
          <a:prstGeom xmlns:a="http://schemas.openxmlformats.org/drawingml/2006/main" prst="rect">
            <a:avLst/>
          </a:prstGeom>
        </p:spPr>
      </p:pic>
      <p:sp>
        <p:nvSpPr>
          <p:cNvPr id="10" name="head1">
            <a:extLst xmlns:a="http://schemas.openxmlformats.org/drawingml/2006/main">
              <a:ext uri="{FF2B5EF4-FFF2-40B4-BE49-F238E27FC236}">
                <a16:creationId xmlns:a16="http://schemas.microsoft.com/office/drawing/2014/main" id="{0DE2CF61-310C-4662-8C59-333A97F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572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סדר שמחזק את הביצוע</a:t>
            </a:r>
          </a:p>
        </p:txBody>
      </p:sp>
      <p:sp>
        <p:nvSpPr>
          <p:cNvPr id="11" name="body1">
            <a:extLst xmlns:a="http://schemas.openxmlformats.org/drawingml/2006/main">
              <a:ext uri="{FF2B5EF4-FFF2-40B4-BE49-F238E27FC236}">
                <a16:creationId xmlns:a16="http://schemas.microsoft.com/office/drawing/2014/main" id="{FC7953C1-88BB-414D-91DF-72F7090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38275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CAD5EC"/>
                </a:solidFill>
                <a:latin typeface="Arial"/>
                <a:ea typeface="Arial"/>
                <a:cs typeface="Arial"/>
              </a:rPr>
              <a:t>פרויקט 5S נכנס לשגרת העבודה במתקן 42. הגדרת מקומות לציוד ולחומרים ופינוי מעברים יוצרים סביבת עבודה ברורה ונגישה.</a:t>
            </a:r>
          </a:p>
        </p:txBody>
      </p:sp>
      <p:sp>
        <p:nvSpPr>
          <p:cNvPr id="12" name="head2">
            <a:extLst xmlns:a="http://schemas.openxmlformats.org/drawingml/2006/main">
              <a:ext uri="{FF2B5EF4-FFF2-40B4-BE49-F238E27FC236}">
                <a16:creationId xmlns:a16="http://schemas.microsoft.com/office/drawing/2014/main" id="{D1AD0E4B-0260-473F-BDF7-6097BD62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pPr>
            <a:r>
              <a:rPr sz="1575" b="1" lang="he-IL">
                <a:solidFill>
                  <a:srgbClr val="35B7FF"/>
                </a:solidFill>
                <a:latin typeface="Arial"/>
                <a:ea typeface="Arial"/>
                <a:cs typeface="Arial"/>
              </a:rPr>
              <a:t>בטיחות, איכות וניצול שטח</a:t>
            </a:r>
          </a:p>
        </p:txBody>
      </p:sp>
      <p:sp>
        <p:nvSpPr>
          <p:cNvPr id="13" name="body2">
            <a:extLst xmlns:a="http://schemas.openxmlformats.org/drawingml/2006/main">
              <a:ext uri="{FF2B5EF4-FFF2-40B4-BE49-F238E27FC236}">
                <a16:creationId xmlns:a16="http://schemas.microsoft.com/office/drawing/2014/main" id="{23F7EB99-387E-4621-BB03-07BBFBC6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28975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CAD5EC"/>
                </a:solidFill>
                <a:latin typeface="Arial"/>
                <a:ea typeface="Arial"/>
                <a:cs typeface="Arial"/>
              </a:rPr>
              <a:t>סדר עקבי מצמצם מכשולים ומקל על זיהוי חריגות. הוא תומך במניעת ערבובים ובשמירה על איכות, ומאפשר לנצל את השטח בצורה מבוקרת.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7DE568D6-DCFB-4054-9C3A-7192846B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הערך נשמר באמצעות הקפדה יומיומית על הסדר, סימון ברור ושמירה על מקומות מוגדרים.</a:t>
            </a:r>
          </a:p>
        </p:txBody>
      </p:sp>
      <p:sp>
        <p:nvSpPr>
          <p:cNvPr id="15" name="photo-date">
            <a:extLst xmlns:a="http://schemas.openxmlformats.org/drawingml/2006/main">
              <a:ext uri="{FF2B5EF4-FFF2-40B4-BE49-F238E27FC236}">
                <a16:creationId xmlns:a16="http://schemas.microsoft.com/office/drawing/2014/main" id="{4A8DABFF-0ABC-4020-B9E6-0A130745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3286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pPr>
            <a:r>
              <a:rPr sz="750" b="0" lang="he-IL">
                <a:solidFill>
                  <a:srgbClr val="8595B6"/>
                </a:solidFill>
                <a:latin typeface="Arial"/>
                <a:ea typeface="Arial"/>
                <a:cs typeface="Arial"/>
              </a:rPr>
              <a:t>תיעוד הטמעה: אוקטובר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500" name="Image 4" descr="logo_white.png"/>
          <p:cNvPicPr>
            <a:picLocks noChangeAspect="1"/>
          </p:cNvPicPr>
          <p:nvPr/>
        </p:nvPicPr>
        <p:blipFill>
          <a:blip r:embed="rIdLogo5S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 xmlns:a="http://schemas.openxmlformats.org/drawingml/2006/main">
        <p:nvSpPr>
          <p:cNvPr id="501" name="page-number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he-IL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995147755"/>
      </p:ext>
    </p:extLst>
  </p:cSld>
</p:sld>
</file>

<file path=ppt/slides/slide20.xml><?xml version="1.0" encoding="utf-8"?>
<p:sld xmlns:p="http://schemas.openxmlformats.org/presentationml/2006/main">
  <p:cSld>
    <p:bg xmlns:a="http://schemas.openxmlformats.org/drawingml/2006/main" xmlns:r="http://schemas.openxmlformats.org/officeDocument/2006/relationships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8B2CF00B-3631-4498-9CF6-546C1E5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איתורים ברורים לחומרי הגלם במתקן 42</a:t>
            </a:r>
          </a:p>
        </p:txBody>
      </p:sp>
      <p:sp>
        <p:nvSpPr>
          <p:cNvPr id="2" name="before-0">
            <a:extLst xmlns:a="http://schemas.openxmlformats.org/drawingml/2006/main">
              <a:ext uri="{FF2B5EF4-FFF2-40B4-BE49-F238E27FC236}">
                <a16:creationId xmlns:a16="http://schemas.microsoft.com/office/drawing/2014/main" id="{BE5E108E-6689-4C57-8DCF-6589BF22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287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FFC84D"/>
                </a:solidFill>
                <a:latin typeface="Arial"/>
                <a:ea typeface="Arial"/>
                <a:cs typeface="Arial"/>
              </a:rPr>
              <a:t>אזור C1 – לפני</a:t>
            </a:r>
          </a:p>
        </p:txBody>
      </p:sp>
      <p:sp>
        <p:nvSpPr>
          <p:cNvPr id="3" name="after-0">
            <a:extLst xmlns:a="http://schemas.openxmlformats.org/drawingml/2006/main">
              <a:ext uri="{FF2B5EF4-FFF2-40B4-BE49-F238E27FC236}">
                <a16:creationId xmlns:a16="http://schemas.microsoft.com/office/drawing/2014/main" id="{3216AA4D-9B68-4F03-9328-0BB026E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אזור C1 – אחרי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AEE1-2A4B-4234-89C8-2DB98CC1A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97d19e2594251"/>
          <a:stretch xmlns:a="http://schemas.openxmlformats.org/drawingml/2006/main"/>
        </p:blipFill>
        <p:spPr>
          <a:xfrm xmlns:a="http://schemas.openxmlformats.org/drawingml/2006/main">
            <a:off x="3433763" y="1285875"/>
            <a:ext cx="1943100" cy="1457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D3EF-9380-4BB0-A6AF-B0F9DB28F5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b2f274c274b14"/>
          <a:stretch xmlns:a="http://schemas.openxmlformats.org/drawingml/2006/main"/>
        </p:blipFill>
        <p:spPr>
          <a:xfrm xmlns:a="http://schemas.openxmlformats.org/drawingml/2006/main">
            <a:off x="766763" y="1285875"/>
            <a:ext cx="1943100" cy="1457325"/>
          </a:xfrm>
          <a:prstGeom xmlns:a="http://schemas.openxmlformats.org/drawingml/2006/main" prst="rect">
            <a:avLst/>
          </a:prstGeom>
        </p:spPr>
      </p:pic>
      <p:sp>
        <p:nvSpPr>
          <p:cNvPr id="6" name="before-1">
            <a:extLst xmlns:a="http://schemas.openxmlformats.org/drawingml/2006/main">
              <a:ext uri="{FF2B5EF4-FFF2-40B4-BE49-F238E27FC236}">
                <a16:creationId xmlns:a16="http://schemas.microsoft.com/office/drawing/2014/main" id="{B4666D29-A3EE-46A9-81D8-C996BA82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FFC84D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FFC84D"/>
                </a:solidFill>
                <a:latin typeface="Arial"/>
                <a:ea typeface="Arial"/>
                <a:cs typeface="Arial"/>
              </a:rPr>
              <a:t>אזור C2 – לפני</a:t>
            </a:r>
          </a:p>
        </p:txBody>
      </p:sp>
      <p:sp>
        <p:nvSpPr>
          <p:cNvPr id="7" name="after-1">
            <a:extLst xmlns:a="http://schemas.openxmlformats.org/drawingml/2006/main">
              <a:ext uri="{FF2B5EF4-FFF2-40B4-BE49-F238E27FC236}">
                <a16:creationId xmlns:a16="http://schemas.microsoft.com/office/drawing/2014/main" id="{EB18B848-8516-4457-89EA-DE460A1B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5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אזור C2 – אחרי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B6FB6-AD53-4074-B06F-A941211FB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838ae5a694d48"/>
          <a:stretch xmlns:a="http://schemas.openxmlformats.org/drawingml/2006/main"/>
        </p:blipFill>
        <p:spPr>
          <a:xfrm xmlns:a="http://schemas.openxmlformats.org/drawingml/2006/main">
            <a:off x="3433763" y="3067050"/>
            <a:ext cx="1943100" cy="14573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3A08D-04F5-41BE-BFEA-26A3E4897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b6ef2ea3541a9"/>
          <a:stretch xmlns:a="http://schemas.openxmlformats.org/drawingml/2006/main"/>
        </p:blipFill>
        <p:spPr>
          <a:xfrm xmlns:a="http://schemas.openxmlformats.org/drawingml/2006/main">
            <a:off x="766763" y="3067050"/>
            <a:ext cx="1943100" cy="1457325"/>
          </a:xfrm>
          <a:prstGeom xmlns:a="http://schemas.openxmlformats.org/drawingml/2006/main" prst="rect">
            <a:avLst/>
          </a:prstGeom>
        </p:spPr>
      </p:pic>
      <p:sp>
        <p:nvSpPr>
          <p:cNvPr id="10" name="head1">
            <a:extLst xmlns:a="http://schemas.openxmlformats.org/drawingml/2006/main">
              <a:ext uri="{FF2B5EF4-FFF2-40B4-BE49-F238E27FC236}">
                <a16:creationId xmlns:a16="http://schemas.microsoft.com/office/drawing/2014/main" id="{08C25EC7-C56F-44BF-9F5B-4A281BA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572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איתור מוקדם ויעיל</a:t>
            </a:r>
          </a:p>
        </p:txBody>
      </p:sp>
      <p:sp>
        <p:nvSpPr>
          <p:cNvPr id="11" name="body1">
            <a:extLst xmlns:a="http://schemas.openxmlformats.org/drawingml/2006/main">
              <a:ext uri="{FF2B5EF4-FFF2-40B4-BE49-F238E27FC236}">
                <a16:creationId xmlns:a16="http://schemas.microsoft.com/office/drawing/2014/main" id="{25593891-3710-4771-A709-201048A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38275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CAD5EC"/>
                </a:solidFill>
                <a:latin typeface="Arial"/>
                <a:ea typeface="Arial"/>
                <a:cs typeface="Arial"/>
              </a:rPr>
              <a:t>הוספת האיתורים מעניקה למנהלים שפה משותפת לאחסון חומרי גלם. היא מקלה על איתור מוקדם ויעיל של החומר ועל ההיערכות לייצור ולאריזה.</a:t>
            </a:r>
          </a:p>
        </p:txBody>
      </p:sp>
      <p:sp>
        <p:nvSpPr>
          <p:cNvPr id="12" name="head2">
            <a:extLst xmlns:a="http://schemas.openxmlformats.org/drawingml/2006/main">
              <a:ext uri="{FF2B5EF4-FFF2-40B4-BE49-F238E27FC236}">
                <a16:creationId xmlns:a16="http://schemas.microsoft.com/office/drawing/2014/main" id="{2D9871E4-46FC-45D2-A7BC-96B0EB94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575" b="1">
                <a:solidFill>
                  <a:srgbClr val="35B7FF"/>
                </a:solidFill>
                <a:latin typeface="Arial"/>
                <a:ea typeface="Arial"/>
                <a:cs typeface="Arial"/>
              </a:defRPr>
            </a:pPr>
            <a:r>
              <a:rPr sz="1575" b="1" lang="he-IL">
                <a:solidFill>
                  <a:srgbClr val="35B7FF"/>
                </a:solidFill>
                <a:latin typeface="Arial"/>
                <a:ea typeface="Arial"/>
                <a:cs typeface="Arial"/>
              </a:rPr>
              <a:t>תרומה אפשרית לכל המפעל</a:t>
            </a:r>
          </a:p>
        </p:txBody>
      </p:sp>
      <p:sp>
        <p:nvSpPr>
          <p:cNvPr id="13" name="body2">
            <a:extLst xmlns:a="http://schemas.openxmlformats.org/drawingml/2006/main">
              <a:ext uri="{FF2B5EF4-FFF2-40B4-BE49-F238E27FC236}">
                <a16:creationId xmlns:a16="http://schemas.microsoft.com/office/drawing/2014/main" id="{7BF5C5C7-C31E-4F90-BD12-4A81985A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28975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350" b="0">
                <a:solidFill>
                  <a:srgbClr val="CAD5EC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CAD5EC"/>
                </a:solidFill>
                <a:latin typeface="Arial"/>
                <a:ea typeface="Arial"/>
                <a:cs typeface="Arial"/>
              </a:rPr>
              <a:t>הרחבת שיטת הסימון והאיתור למתקנים נוספים יכולה לשפר את התיאום בין תפעול, מחסנים ולוגיסטיקה, לצמצם חיפושים ותנועות מיותרות ולחזק את הבקרה על המלאי.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00B51A4A-D48D-41CF-8BF8-82E9487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lang="he-IL">
                <a:solidFill>
                  <a:srgbClr val="2EE6C9"/>
                </a:solidFill>
                <a:latin typeface="Arial"/>
                <a:ea typeface="Arial"/>
                <a:cs typeface="Arial"/>
              </a:rPr>
              <a:t>איתור ברור בשטח מסייע לתכנון מוקדם, להכנת החומר בזמן ולתיאום יעיל בין ממשקי העבודה.</a:t>
            </a:r>
          </a:p>
        </p:txBody>
      </p:sp>
      <p:sp>
        <p:nvSpPr>
          <p:cNvPr id="15" name="photo-date">
            <a:extLst xmlns:a="http://schemas.openxmlformats.org/drawingml/2006/main">
              <a:ext uri="{FF2B5EF4-FFF2-40B4-BE49-F238E27FC236}">
                <a16:creationId xmlns:a16="http://schemas.microsoft.com/office/drawing/2014/main" id="{264FA2FF-5428-475C-BBD9-24A170F8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3286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 rtl="1">
              <a:defRPr sz="750" b="0">
                <a:solidFill>
                  <a:srgbClr val="8595B6"/>
                </a:solidFill>
                <a:latin typeface="Arial"/>
                <a:ea typeface="Arial"/>
                <a:cs typeface="Arial"/>
              </a:defRPr>
            </a:pPr>
            <a:r>
              <a:rPr sz="750" b="0" lang="he-IL">
                <a:solidFill>
                  <a:srgbClr val="8595B6"/>
                </a:solidFill>
                <a:latin typeface="Arial"/>
                <a:ea typeface="Arial"/>
                <a:cs typeface="Arial"/>
              </a:rPr>
              <a:t>תיעוד הטמעה: אוקטובר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500" name="Image 4" descr="logo_white.png"/>
          <p:cNvPicPr>
            <a:picLocks noChangeAspect="1"/>
          </p:cNvPicPr>
          <p:nvPr/>
        </p:nvPicPr>
        <p:blipFill>
          <a:blip r:embed="rIdLogo5S"/>
          <a:stretch>
            <a:fillRect/>
          </a:stretch>
        </p:blipFill>
        <p:spPr>
          <a:xfrm>
            <a:off x="256032" y="182880"/>
            <a:ext cx="548640" cy="685800"/>
          </a:xfrm>
          <a:prstGeom prst="rect">
            <a:avLst/>
          </a:prstGeom>
        </p:spPr>
      </p:pic>
      <p:sp xmlns:a="http://schemas.openxmlformats.org/drawingml/2006/main">
        <p:nvSpPr>
          <p:cNvPr id="501" name="page-number"/>
          <p:cNvSpPr/>
          <p:nvPr/>
        </p:nvSpPr>
        <p:spPr>
          <a:xfrm>
            <a:off x="228600" y="49469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he-IL" sz="850" dirty="0">
                <a:solidFill>
                  <a:srgbClr val="5A6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478583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1550</Words>
  <Application>Microsoft Office PowerPoint</Application>
  <PresentationFormat>On-screen Show (16:9)</PresentationFormat>
  <Paragraphs>364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סיכום מאי-יוני 2026 וסקירה חצי שנתית</dc:title>
  <dc:subject>PptxGenJS Presentation</dc:subject>
  <dc:creator>PptxGenJS</dc:creator>
  <cp:lastModifiedBy>Levi Ben Elisha</cp:lastModifiedBy>
  <cp:revision>2</cp:revision>
  <dcterms:created xsi:type="dcterms:W3CDTF">2026-07-06T18:58:29Z</dcterms:created>
  <dcterms:modified xsi:type="dcterms:W3CDTF">2026-07-26T10:30:57Z</dcterms:modified>
</cp:coreProperties>
</file>